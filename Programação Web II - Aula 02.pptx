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en-US"/>
              <a:t>Programação Web II</a:t>
            </a:r>
            <a:endParaRPr lang="pt-BR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Autenticação e autorização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1. Conceito de Autenticação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algn="just"/>
            <a:r>
              <a:rPr lang="pt-BR" altLang="en-US"/>
              <a:t>A autenticação é o processo pelo qual um sistema verifica a identidade de um usuário ou entidade que deseja acessar algum recurso. Este processo é utilizado para garantir que quem está solicitando o acesso realmente é quem diz ser.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1.1. Pontos Importantes</a:t>
            </a:r>
            <a:r>
              <a:rPr lang="pt-BR" altLang="en-US"/>
              <a:t>:</a:t>
            </a:r>
            <a:endParaRPr lang="pt-BR" altLang="en-US"/>
          </a:p>
          <a:p>
            <a:pPr algn="just"/>
            <a:r>
              <a:rPr lang="pt-BR" altLang="en-US" b="1"/>
              <a:t>Autenticação de um fator</a:t>
            </a:r>
            <a:r>
              <a:rPr lang="pt-BR" altLang="en-US"/>
              <a:t>: É o método mais comum, em que apenas um único fator de identificação é utilizado, geralmente uma combinação de nome de usuário e senha.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Autenticação de múltiplos fatores (MFA)</a:t>
            </a:r>
            <a:r>
              <a:rPr lang="pt-BR" altLang="en-US"/>
              <a:t>: Adiciona camadas extras de segurança, como códigos enviados por SMS, perguntas de segurança ou autenticação biométrica (impressão digital, reconhecimento facial). Este método é mais seguro, pois exige que o usuário forneça algo que ele sabe (senha) e algo que ele tem (um dispositivo ou biometria).</a:t>
            </a:r>
            <a:endParaRPr lang="pt-B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1.2. Exemplos e Cenários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algn="just"/>
            <a:r>
              <a:rPr lang="pt-BR" altLang="en-US" b="1"/>
              <a:t>1.2.1. Exemplos Práticos de Autenticação: </a:t>
            </a:r>
            <a:r>
              <a:rPr lang="pt-BR" altLang="en-US"/>
              <a:t>Um sistema que solicita e-mail e senha para login (como a maioria das redes sociais e serviços de e-mail).</a:t>
            </a:r>
            <a:endParaRPr lang="pt-BR" altLang="en-US"/>
          </a:p>
          <a:p>
            <a:pPr algn="just"/>
            <a:r>
              <a:rPr lang="pt-BR" altLang="en-US"/>
              <a:t>Autenticação por meio de digital ou reconhecimento facial, comum em smartphones.</a:t>
            </a:r>
            <a:endParaRPr lang="pt-BR" altLang="en-US"/>
          </a:p>
          <a:p>
            <a:pPr algn="just"/>
            <a:r>
              <a:rPr lang="pt-BR" altLang="en-US" b="1"/>
              <a:t>1.2.2. Cenários de Autenticação:</a:t>
            </a:r>
            <a:endParaRPr lang="pt-BR" altLang="en-US" b="1"/>
          </a:p>
          <a:p>
            <a:pPr algn="just"/>
            <a:r>
              <a:rPr lang="pt-BR" altLang="en-US" b="1"/>
              <a:t>1.2.2.1. Login em websites</a:t>
            </a:r>
            <a:r>
              <a:rPr lang="pt-BR" altLang="en-US"/>
              <a:t>: Quando o usuário insere seu nome de usuário e senha, o sistema os compara com os dados armazenados em um banco de dados.</a:t>
            </a:r>
            <a:endParaRPr lang="pt-BR" altLang="en-US"/>
          </a:p>
          <a:p>
            <a:pPr algn="just"/>
            <a:r>
              <a:rPr lang="pt-BR" altLang="en-US" b="1"/>
              <a:t>1.2.2.2. Dispositivos móveis</a:t>
            </a:r>
            <a:r>
              <a:rPr lang="pt-BR" altLang="en-US"/>
              <a:t>: A autenticação biométrica, como reconhecimento facial ou impressão digital, é usada para garantir que o dispositivo só pode ser acessado pelo proprietário legítimo.</a:t>
            </a:r>
            <a:endParaRPr lang="pt-B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2. Conceito de Autorização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algn="just"/>
            <a:r>
              <a:rPr lang="pt-BR" altLang="en-US"/>
              <a:t>Autorização é o processo de conceder ou negar permissão para que um usuário autenticado possa realizar determinadas ações ou acessar determinados recursos. Em outras palavras, a autorização responde à pergunta: "O usuário pode realizar essa ação?".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2.1. Pontos Importantes</a:t>
            </a:r>
            <a:r>
              <a:rPr lang="pt-BR" altLang="en-US"/>
              <a:t>:</a:t>
            </a:r>
            <a:endParaRPr lang="pt-BR" altLang="en-US"/>
          </a:p>
          <a:p>
            <a:pPr algn="just"/>
            <a:r>
              <a:rPr lang="pt-BR" altLang="en-US" b="1"/>
              <a:t>2.1.1. Controle de Acesso Baseado em Função (RBAC)</a:t>
            </a:r>
            <a:r>
              <a:rPr lang="pt-BR" altLang="en-US"/>
              <a:t>: Um dos métodos mais comuns de autorização, em que os usuários são agrupados com base em suas funções (admin, editor, usuário comum), e cada função tem permissões específicas.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2.1.2. Controle de Acesso Baseado em Atributos (ABAC)</a:t>
            </a:r>
            <a:r>
              <a:rPr lang="pt-BR" altLang="en-US"/>
              <a:t>: Permite definir políticas de autorização baseadas em atributos do usuário, como cargo, departamento ou localização. É um sistema mais flexível que o RBAC.</a:t>
            </a:r>
            <a:endParaRPr lang="pt-B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2.2. Exemplos e Cenários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algn="just"/>
            <a:r>
              <a:rPr lang="pt-BR" altLang="en-US" b="1"/>
              <a:t>2.2.1. Exemplos Práticos de Autorização</a:t>
            </a:r>
            <a:r>
              <a:rPr lang="pt-BR" altLang="en-US"/>
              <a:t>:</a:t>
            </a:r>
            <a:endParaRPr lang="pt-BR" altLang="en-US"/>
          </a:p>
          <a:p>
            <a:pPr algn="just"/>
            <a:r>
              <a:rPr lang="pt-BR" altLang="en-US"/>
              <a:t>Um sistema de e-commerce em que apenas usuários com o papel de admin podem adicionar ou remover produtos do catálogo.</a:t>
            </a:r>
            <a:endParaRPr lang="pt-BR" altLang="en-US"/>
          </a:p>
          <a:p>
            <a:pPr algn="just"/>
            <a:r>
              <a:rPr lang="pt-BR" altLang="en-US"/>
              <a:t>Em uma plataforma de ensino, apenas professores podem criar ou editar conteúdo, enquanto alunos podem apenas visualizar.</a:t>
            </a:r>
            <a:endParaRPr lang="pt-BR" altLang="en-US"/>
          </a:p>
          <a:p>
            <a:pPr algn="just"/>
            <a:r>
              <a:rPr lang="pt-BR" altLang="en-US" b="1"/>
              <a:t>2.2.2. Cenários de Autorização</a:t>
            </a:r>
            <a:r>
              <a:rPr lang="pt-BR" altLang="en-US"/>
              <a:t>:</a:t>
            </a:r>
            <a:endParaRPr lang="pt-BR" altLang="en-US"/>
          </a:p>
          <a:p>
            <a:pPr algn="just"/>
            <a:r>
              <a:rPr lang="pt-BR" altLang="en-US" b="1"/>
              <a:t>2.2.2.1. Sistemas de gerenciamento de conteúdo (CMS)</a:t>
            </a:r>
            <a:r>
              <a:rPr lang="pt-BR" altLang="en-US"/>
              <a:t>: Em um CMS, um editor pode ter permissão para modificar e criar novos artigos, enquanto um administrador tem acesso a configurações e gerenciamento de usuários.</a:t>
            </a:r>
            <a:endParaRPr lang="pt-BR" altLang="en-US"/>
          </a:p>
          <a:p>
            <a:pPr algn="just"/>
            <a:r>
              <a:rPr lang="pt-BR" altLang="en-US" b="1"/>
              <a:t>2.2.2.2. Aplicações corporativas</a:t>
            </a:r>
            <a:r>
              <a:rPr lang="pt-BR" altLang="en-US"/>
              <a:t>: Em empresas, funcionários podem ser autorizados a acessar apenas informações relevantes ao seu cargo, com dados financeiros sendo restritos apenas para o setor de finanças.</a:t>
            </a:r>
            <a:endParaRPr lang="pt-B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 Diferença entre Autenticação e Autorização</a:t>
            </a:r>
            <a:endParaRPr lang="pt-BR" altLang="en-US"/>
          </a:p>
        </p:txBody>
      </p:sp>
      <p:graphicFrame>
        <p:nvGraphicFramePr>
          <p:cNvPr id="9" name="Espaço Reservado para Conteúdo 8"/>
          <p:cNvGraphicFramePr/>
          <p:nvPr>
            <p:ph idx="1"/>
          </p:nvPr>
        </p:nvGraphicFramePr>
        <p:xfrm>
          <a:off x="647700" y="1825625"/>
          <a:ext cx="10515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pt-BR" altLang="en-US" sz="3200"/>
                        <a:t>Autenticação</a:t>
                      </a:r>
                      <a:endParaRPr lang="pt-BR" altLang="en-US" sz="320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3200"/>
                        <a:t>Autorização</a:t>
                      </a:r>
                      <a:endParaRPr lang="en-US" altLang="zh-CN" sz="320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2400"/>
                        <a:t>Verifica a identidade</a:t>
                      </a:r>
                      <a:r>
                        <a:rPr lang="en-US" altLang="zh-CN" sz="2400"/>
                        <a:t> do usuário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lang="en-US" altLang="zh-CN" sz="2400"/>
                        <a:t>Define o nível de acesso</a:t>
                      </a:r>
                      <a:r>
                        <a:rPr lang="en-US" altLang="zh-CN" sz="2400"/>
                        <a:t> do usuário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2400"/>
                        <a:t>Ocorre primeiro</a:t>
                      </a:r>
                      <a:r>
                        <a:rPr lang="en-US" altLang="zh-CN" sz="2400"/>
                        <a:t> no processo de segurança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lang="en-US" altLang="zh-CN" sz="2400"/>
                        <a:t>Ocorre após</a:t>
                      </a:r>
                      <a:r>
                        <a:rPr lang="en-US" altLang="zh-CN" sz="2400"/>
                        <a:t> a autenticação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2400"/>
                        <a:t>Exemplo: login com </a:t>
                      </a:r>
                      <a:r>
                        <a:rPr lang="en-US" altLang="zh-CN" sz="2400"/>
                        <a:t>e-mail e senha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lang="en-US" altLang="zh-CN" sz="2400"/>
                        <a:t>Exemplo: permissões baseadas em funções</a:t>
                      </a:r>
                      <a:r>
                        <a:rPr lang="en-US" altLang="zh-CN" sz="2400"/>
                        <a:t> (admin, editor)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2400"/>
                        <a:t>Quem</a:t>
                      </a:r>
                      <a:r>
                        <a:rPr lang="en-US" altLang="zh-CN" sz="2400"/>
                        <a:t> é o usuário</a:t>
                      </a:r>
                      <a:endParaRPr lang="en-US" altLang="zh-CN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r>
                        <a:rPr lang="en-US" altLang="zh-CN" sz="2400"/>
                        <a:t>O que</a:t>
                      </a:r>
                      <a:r>
                        <a:rPr lang="en-US" altLang="zh-CN" sz="2400"/>
                        <a:t> o usuário pode fazer</a:t>
                      </a:r>
                      <a:endParaRPr lang="en-US" altLang="zh-CN" sz="24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>
                <a:sym typeface="+mn-ea"/>
              </a:rPr>
              <a:t>4. Importância da Autenticação e Autorização em Segurança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algn="just"/>
            <a:r>
              <a:rPr lang="pt-BR" altLang="en-US"/>
              <a:t>A autenticação e a autorização são partes essenciais de qualquer sistema que precise proteger informações ou restringir ações.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4.1. Autenticação</a:t>
            </a:r>
            <a:r>
              <a:rPr lang="pt-BR" altLang="en-US"/>
              <a:t>: Se o sistema não conseguir identificar corretamente os usuários, qualquer pessoa pode alegar ser outra. A autenticação fraca pode levar a acessos não autorizados.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4.2. Autorização</a:t>
            </a:r>
            <a:r>
              <a:rPr lang="pt-BR" altLang="en-US"/>
              <a:t>: Mesmo que um sistema autentique corretamente os usuários, é necessário garantir que eles só possam acessar e modificar o que têm permissão. A falha na autorização pode permitir que usuários comuns realizem ações críticas, como excluir ou modificar dados sensíveis.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5. Práticas Comuns de Segurança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>
                <a:sym typeface="+mn-ea"/>
              </a:rPr>
              <a:t>5.1. Senhas fortes</a:t>
            </a:r>
            <a:r>
              <a:rPr lang="pt-BR" altLang="en-US">
                <a:sym typeface="+mn-ea"/>
              </a:rPr>
              <a:t>: A autenticação deve exigir senhas robustas, que combinem caracteres alfanuméricos e símbolos.</a:t>
            </a:r>
            <a:endParaRPr lang="pt-BR" altLang="en-US">
              <a:sym typeface="+mn-ea"/>
            </a:endParaRPr>
          </a:p>
          <a:p>
            <a:pPr algn="just"/>
            <a:endParaRPr lang="pt-BR" altLang="en-US"/>
          </a:p>
          <a:p>
            <a:pPr algn="just"/>
            <a:r>
              <a:rPr lang="pt-BR" altLang="en-US" b="1">
                <a:sym typeface="+mn-ea"/>
              </a:rPr>
              <a:t>5.2. Autenticação multifator</a:t>
            </a:r>
            <a:r>
              <a:rPr lang="pt-BR" altLang="en-US">
                <a:sym typeface="+mn-ea"/>
              </a:rPr>
              <a:t>: Aumenta a segurança exigindo dois ou mais fatores de verificação.</a:t>
            </a:r>
            <a:endParaRPr lang="pt-BR" altLang="en-US">
              <a:sym typeface="+mn-ea"/>
            </a:endParaRPr>
          </a:p>
          <a:p>
            <a:pPr algn="just"/>
            <a:endParaRPr lang="pt-BR" altLang="en-US"/>
          </a:p>
          <a:p>
            <a:pPr algn="just"/>
            <a:r>
              <a:rPr lang="pt-BR" altLang="en-US" b="1">
                <a:sym typeface="+mn-ea"/>
              </a:rPr>
              <a:t>5.3. Princípio do menor privilégio</a:t>
            </a:r>
            <a:r>
              <a:rPr lang="pt-BR" altLang="en-US">
                <a:sym typeface="+mn-ea"/>
              </a:rPr>
              <a:t>: Os usuários devem ter acesso apenas ao que é estritamente necessário para realizar suas funções.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6. Exemplos de Cenários na Prática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algn="just"/>
            <a:r>
              <a:rPr lang="pt-BR" altLang="en-US" b="1"/>
              <a:t>6.1. Cenário 1</a:t>
            </a:r>
            <a:r>
              <a:rPr lang="pt-BR" altLang="en-US"/>
              <a:t>: Autenticação e Autorização em um Sistema Bancário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Autenticação</a:t>
            </a:r>
            <a:r>
              <a:rPr lang="pt-BR" altLang="en-US"/>
              <a:t>: O cliente do banco entra no aplicativo do banco com suas credenciais (e-mail e senha) e pode ser solicitado a passar por uma segunda verificação de segurança, como um código enviado por SMS.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Autorização</a:t>
            </a:r>
            <a:r>
              <a:rPr lang="pt-BR" altLang="en-US"/>
              <a:t>: Depois de autenticado, o cliente tem permissões para realizar transferências bancárias, visualizar extratos e pagar contas, mas não tem acesso ao painel administrativo do banco.</a:t>
            </a:r>
            <a:endParaRPr lang="pt-BR" altLang="en-US"/>
          </a:p>
          <a:p>
            <a:pPr algn="just"/>
            <a:r>
              <a:rPr lang="pt-BR" altLang="en-US" b="1"/>
              <a:t>6.2. Cenário 2</a:t>
            </a:r>
            <a:r>
              <a:rPr lang="pt-BR" altLang="en-US"/>
              <a:t>: Plataforma de Ensino Online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Autenticação</a:t>
            </a:r>
            <a:r>
              <a:rPr lang="pt-BR" altLang="en-US"/>
              <a:t>: Alunos e professores fazem login na plataforma usando seu e-mail e senha.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Autorização</a:t>
            </a:r>
            <a:r>
              <a:rPr lang="pt-BR" altLang="en-US"/>
              <a:t>: Alunos podem acessar apenas os cursos nos quais estão matriculados, enquanto professores têm permissões para criar e editar conteúdo dos cursos. Administradores têm acesso para gerenciar ambos os grupos.</a:t>
            </a:r>
            <a:endParaRPr lang="pt-B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7. JSON Web Token (JWT)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7.1. Definição</a:t>
            </a:r>
            <a:r>
              <a:rPr lang="pt-BR" altLang="en-US"/>
              <a:t>: JWT é um padrão aberto usado para transmitir informações entre duas partes de forma segura em formato JSON. </a:t>
            </a:r>
            <a:endParaRPr lang="pt-BR" altLang="en-US"/>
          </a:p>
          <a:p>
            <a:pPr algn="just"/>
            <a:r>
              <a:rPr lang="pt-BR" altLang="en-US"/>
              <a:t>Ele é amplamente utilizado para autenticação e autorização em aplicações modernas, especialmente em sistemas distribuídos como APIs REST. </a:t>
            </a:r>
            <a:endParaRPr lang="pt-BR" altLang="en-US"/>
          </a:p>
          <a:p>
            <a:pPr algn="just"/>
            <a:r>
              <a:rPr lang="pt-BR" altLang="en-US"/>
              <a:t>O JWT é assinado digitalmente, garantindo a integridade das informações contidas no token.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7.2. </a:t>
            </a:r>
            <a:r>
              <a:rPr lang="pt-BR" altLang="en-US">
                <a:sym typeface="+mn-ea"/>
              </a:rPr>
              <a:t>Principais características: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Compacto</a:t>
            </a:r>
            <a:r>
              <a:rPr lang="pt-BR" altLang="en-US"/>
              <a:t>: O JWT é pequeno em tamanho, o que facilita seu uso em URLs, cabeçalhos de requisições HTTP e cookies.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Auto-contido</a:t>
            </a:r>
            <a:r>
              <a:rPr lang="pt-BR" altLang="en-US"/>
              <a:t>: O JWT carrega todas as informações necessárias sobre o usuário ou outra entidade dentro do próprio token, sem a necessidade de consultar o banco de dados após a autenticação.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Assinado</a:t>
            </a:r>
            <a:r>
              <a:rPr lang="pt-BR" altLang="en-US"/>
              <a:t>: O token pode ser verificado usando uma chave secreta ou um par de chaves pública/privada, garantindo que ele não foi alterado.</a:t>
            </a:r>
            <a:endParaRPr lang="pt-B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7.3. Estrutura de um JWT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algn="just"/>
            <a:r>
              <a:rPr lang="pt-BR" altLang="en-US"/>
              <a:t>Um JWT é composto por três partes separadas por pontos (.), codificadas em Base64:</a:t>
            </a:r>
            <a:endParaRPr lang="pt-BR" altLang="en-US"/>
          </a:p>
          <a:p>
            <a:endParaRPr lang="pt-BR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en-US" b="1"/>
              <a:t>Header </a:t>
            </a:r>
            <a:r>
              <a:rPr lang="pt-BR" altLang="en-US"/>
              <a:t>(Cabeçalho)</a:t>
            </a:r>
            <a:endParaRPr lang="pt-BR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en-US" b="1"/>
              <a:t>Payload </a:t>
            </a:r>
            <a:r>
              <a:rPr lang="pt-BR" altLang="en-US"/>
              <a:t>(Corpo)</a:t>
            </a:r>
            <a:endParaRPr lang="pt-BR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en-US" b="1"/>
              <a:t>Signature </a:t>
            </a:r>
            <a:r>
              <a:rPr lang="pt-BR" altLang="en-US"/>
              <a:t>(Assinatura)</a:t>
            </a:r>
            <a:endParaRPr lang="pt-BR" altLang="en-US"/>
          </a:p>
          <a:p>
            <a:endParaRPr lang="pt-B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7.3. Estrutura de um JWT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b="1">
                <a:sym typeface="+mn-ea"/>
              </a:rPr>
              <a:t>7.3.1. Header (Cabeçalho):</a:t>
            </a:r>
            <a:endParaRPr lang="pt-BR" altLang="en-US" b="1"/>
          </a:p>
          <a:p>
            <a:pPr algn="just"/>
            <a:r>
              <a:rPr lang="pt-BR" altLang="en-US">
                <a:sym typeface="+mn-ea"/>
              </a:rPr>
              <a:t>O cabeçalho normalmente contém o tipo de token (JWT) e o algoritmo de assinatura utilizado, como HMAC SHA256 ou RSA.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8135" y="3506470"/>
            <a:ext cx="3554730" cy="28282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7.3. Estrutura de um JWT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algn="just"/>
            <a:r>
              <a:rPr lang="pt-BR" altLang="en-US" b="1"/>
              <a:t>7.3.2. Payload (Corpo):</a:t>
            </a:r>
            <a:endParaRPr lang="pt-BR" altLang="en-US" b="1"/>
          </a:p>
          <a:p>
            <a:pPr algn="just"/>
            <a:r>
              <a:rPr lang="pt-BR" altLang="en-US"/>
              <a:t>O payload carrega as claims (declarações), que são informações sobre a entidade (geralmente o usuário) e dados adicionais. Existem três tipos de claims:</a:t>
            </a:r>
            <a:endParaRPr lang="pt-BR" altLang="en-US"/>
          </a:p>
          <a:p>
            <a:pPr algn="just"/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Registered Claims</a:t>
            </a:r>
            <a:r>
              <a:rPr lang="pt-BR" altLang="en-US"/>
              <a:t>: Claims predefinidas como iss (emissor), exp (data de expiração), sub (tópico), etc.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Public Claims</a:t>
            </a:r>
            <a:r>
              <a:rPr lang="pt-BR" altLang="en-US"/>
              <a:t>: Claims definidas livremente pelo usuário, como username, role ou email.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Private Claims</a:t>
            </a:r>
            <a:r>
              <a:rPr lang="pt-BR" altLang="en-US"/>
              <a:t>: Claims usadas em um contexto específico, definidas entre duas partes.</a:t>
            </a:r>
            <a:endParaRPr lang="pt-B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7.3. Estrutura de um JWT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b="1"/>
              <a:t>7.3.2.1. Exemplo de payload em JSON: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750" y="2460625"/>
            <a:ext cx="4888865" cy="37166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7.3. Estrutura de um JWT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7.3.3. Signature (Assinatura):</a:t>
            </a:r>
            <a:endParaRPr lang="pt-BR" altLang="en-US"/>
          </a:p>
          <a:p>
            <a:pPr algn="just"/>
            <a:r>
              <a:rPr lang="pt-BR" altLang="en-US"/>
              <a:t>A assinatura é usada para verificar a autenticidade do token e é criada combinando o cabeçalho, o payload e uma chave secreta ou chave privada.</a:t>
            </a:r>
            <a:endParaRPr lang="pt-BR" altLang="en-US"/>
          </a:p>
          <a:p>
            <a:pPr algn="just"/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4275" y="3429000"/>
            <a:ext cx="7266305" cy="2679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7.4. Funcionamento do JWT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algn="just"/>
            <a:r>
              <a:rPr lang="pt-BR" altLang="en-US" b="1"/>
              <a:t>7.4.1. Criação</a:t>
            </a:r>
            <a:r>
              <a:rPr lang="pt-BR" altLang="en-US"/>
              <a:t>: Quando um usuário faz login, o servidor gera um JWT contendo informações de autenticação (como o ID do usuário) e envia esse token ao cliente.</a:t>
            </a:r>
            <a:endParaRPr lang="pt-BR" altLang="en-US"/>
          </a:p>
          <a:p>
            <a:pPr algn="just"/>
            <a:r>
              <a:rPr lang="pt-BR" altLang="en-US" b="1"/>
              <a:t>7.4.2. Armazenamento no cliente</a:t>
            </a:r>
            <a:r>
              <a:rPr lang="pt-BR" altLang="en-US"/>
              <a:t>: O cliente armazena o JWT, normalmente no localStorage ou cookies.</a:t>
            </a:r>
            <a:endParaRPr lang="pt-BR" altLang="en-US"/>
          </a:p>
          <a:p>
            <a:pPr algn="just"/>
            <a:r>
              <a:rPr lang="pt-BR" altLang="en-US" b="1"/>
              <a:t>7.4.3. Envio com requisições</a:t>
            </a:r>
            <a:r>
              <a:rPr lang="pt-BR" altLang="en-US"/>
              <a:t>: A cada requisição subsequente, o cliente envia o token no cabeçalho HTTP, geralmente no formato </a:t>
            </a:r>
            <a:r>
              <a:rPr lang="pt-BR" altLang="en-US" i="1"/>
              <a:t>Authorization: Bearer &lt;token&gt;</a:t>
            </a:r>
            <a:r>
              <a:rPr lang="pt-BR" altLang="en-US"/>
              <a:t>.</a:t>
            </a:r>
            <a:endParaRPr lang="pt-BR" altLang="en-US"/>
          </a:p>
          <a:p>
            <a:pPr algn="just"/>
            <a:r>
              <a:rPr lang="pt-BR" altLang="en-US" b="1"/>
              <a:t>7.4.4. Verificação</a:t>
            </a:r>
            <a:r>
              <a:rPr lang="pt-BR" altLang="en-US"/>
              <a:t>: O servidor verifica a assinatura do JWT para garantir que ele não foi modificado e, em seguida, decodifica o token para extrair as informações do usuário.</a:t>
            </a:r>
            <a:endParaRPr lang="pt-BR" altLang="en-US"/>
          </a:p>
          <a:p>
            <a:pPr algn="just"/>
            <a:r>
              <a:rPr lang="pt-BR" altLang="en-US" b="1"/>
              <a:t>7.4.5. Autorização</a:t>
            </a:r>
            <a:r>
              <a:rPr lang="pt-BR" altLang="en-US"/>
              <a:t>: Com base nas informações contidas no token, o servidor pode permitir ou negar acesso ao recurso solicitado.</a:t>
            </a:r>
            <a:endParaRPr lang="pt-B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7.5. Vantagens e Desvantagens do JWT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Vantagens: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Descentralizado: </a:t>
            </a:r>
            <a:r>
              <a:rPr lang="pt-BR" altLang="en-US"/>
              <a:t>O JWT é auto-contido, o que elimina a necessidade de consultas repetidas ao banco de dados.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Compacto:</a:t>
            </a:r>
            <a:r>
              <a:rPr lang="pt-BR" altLang="en-US"/>
              <a:t> Pode ser facilmente transmitido em HTTP headers ou cookies devido ao seu tamanho pequeno.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Facilidade de uso em sistemas distribuídos:</a:t>
            </a:r>
            <a:r>
              <a:rPr lang="pt-BR" altLang="en-US"/>
              <a:t> O JWT é ideal para APIs que precisam ser acessadas por múltiplos domínios ou dispositivos.</a:t>
            </a:r>
            <a:endParaRPr lang="pt-B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7.5. Vantagens e Desvantagens do JWT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pt-BR" altLang="en-US" b="1"/>
              <a:t>Desvantagens:</a:t>
            </a:r>
            <a:endParaRPr lang="pt-BR" altLang="en-US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Dificuldade em revogar tokens</a:t>
            </a:r>
            <a:r>
              <a:rPr lang="pt-BR" altLang="en-US"/>
              <a:t>: Uma vez emitido, um JWT permanece válido até expirar, o que pode ser um problema se o usuário perder o acesso ao sistema.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Tamanho</a:t>
            </a:r>
            <a:r>
              <a:rPr lang="pt-BR" altLang="en-US"/>
              <a:t>: Embora compacto, um JWT com muitos claims pode crescer e impactar o desempenho se transmitido frequentemente.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Segurança da chave secreta</a:t>
            </a:r>
            <a:r>
              <a:rPr lang="pt-BR" altLang="en-US"/>
              <a:t>: Se a chave secreta utilizada para assinar o JWT for comprometida, todos os tokens podem ser forjados.</a:t>
            </a:r>
            <a:endParaRPr lang="pt-B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8594</Words>
  <Application>WPS Presentation</Application>
  <PresentationFormat>宽屏</PresentationFormat>
  <Paragraphs>164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黑体</vt:lpstr>
      <vt:lpstr>Office Theme</vt:lpstr>
      <vt:lpstr>Programação Web II</vt:lpstr>
      <vt:lpstr>1. Conceito de Autenticação</vt:lpstr>
      <vt:lpstr>1.2. Exemplos e Cenários</vt:lpstr>
      <vt:lpstr>2. Conceito de Autorização</vt:lpstr>
      <vt:lpstr>2.2. Exemplos e Cenários</vt:lpstr>
      <vt:lpstr>3. Diferença entre Autenticação e Autorização</vt:lpstr>
      <vt:lpstr>4. Importância da Autenticação e Autorização em Segurança</vt:lpstr>
      <vt:lpstr>5. Práticas Comuns de Segurança</vt:lpstr>
      <vt:lpstr>6. Exemplos de Cenários na Prática</vt:lpstr>
      <vt:lpstr>7. JSON Web Token (JWT)</vt:lpstr>
      <vt:lpstr>7.2. Principais características:</vt:lpstr>
      <vt:lpstr>7.3. Estrutura de um JWT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jacques</cp:lastModifiedBy>
  <cp:revision>8</cp:revision>
  <dcterms:created xsi:type="dcterms:W3CDTF">2024-09-26T21:57:00Z</dcterms:created>
  <dcterms:modified xsi:type="dcterms:W3CDTF">2024-10-17T19:41:46Z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1046-12.2.0.18607</vt:lpwstr>
  </property>
  <property fmtid="{D5CDD505-2E9C-101B-9397-08002B2CF9AE}" pid="3" name="ICV">
    <vt:lpwstr>8A4A782BA22C42EF97D580B9ADBCD824_11</vt:lpwstr>
  </property>
</Properties>
</file>