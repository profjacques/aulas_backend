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46"/>
  </p:handout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https://www.npmjs.com/package/opossum</a:t>
            </a:r>
            <a:endParaRPr lang="en-US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Exemplo de Instrumenta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</a:t>
            </a:r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pt-BR">
                <a:sym typeface="+mn-ea"/>
              </a:rPr>
              <a:t>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 e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p>
            <a:endParaRPr lang="en-US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BR" altLang="en-US"/>
              <a:t>Serviços</a:t>
            </a:r>
            <a:endParaRPr lang="pt-BR" altLang="en-US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1. Introdu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aos 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No contexto da computa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desenvolvimento de software, um servi</a:t>
            </a:r>
            <a:r>
              <a:rPr lang="en-US" altLang="en-US"/>
              <a:t>ç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uma funcionalidade espec</a:t>
            </a:r>
            <a:r>
              <a:rPr lang="en-US" altLang="en-US"/>
              <a:t>í</a:t>
            </a:r>
            <a:r>
              <a:rPr lang="en-US" altLang="pt-BR"/>
              <a:t>fica que </a:t>
            </a:r>
            <a:r>
              <a:rPr lang="en-US" altLang="en-US"/>
              <a:t>é</a:t>
            </a:r>
            <a:r>
              <a:rPr lang="en-US" altLang="pt-BR"/>
              <a:t> disponibilizada para outros componentes ou sistemas. Os servi</a:t>
            </a:r>
            <a:r>
              <a:rPr lang="en-US" altLang="en-US"/>
              <a:t>ç</a:t>
            </a:r>
            <a:r>
              <a:rPr lang="en-US" altLang="pt-BR"/>
              <a:t>os s</a:t>
            </a:r>
            <a:r>
              <a:rPr lang="en-US" altLang="en-US"/>
              <a:t>ã</a:t>
            </a:r>
            <a:r>
              <a:rPr lang="en-US" altLang="pt-BR"/>
              <a:t>o fundamentais para a constru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sistemas escal</a:t>
            </a:r>
            <a:r>
              <a:rPr lang="en-US" altLang="en-US"/>
              <a:t>á</a:t>
            </a:r>
            <a:r>
              <a:rPr lang="en-US" altLang="pt-BR"/>
              <a:t>veis, modulares e reutiliz</a:t>
            </a:r>
            <a:r>
              <a:rPr lang="en-US" altLang="en-US"/>
              <a:t>á</a:t>
            </a:r>
            <a:r>
              <a:rPr lang="en-US" altLang="pt-BR"/>
              <a:t>veis.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Um servi</a:t>
            </a:r>
            <a:r>
              <a:rPr lang="en-US" altLang="en-US"/>
              <a:t>ç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um componente autônomo e reutiliz</a:t>
            </a:r>
            <a:r>
              <a:rPr lang="en-US" altLang="en-US"/>
              <a:t>á</a:t>
            </a:r>
            <a:r>
              <a:rPr lang="en-US" altLang="pt-BR"/>
              <a:t>vel que executa uma funcionalidade espec</a:t>
            </a:r>
            <a:r>
              <a:rPr lang="en-US" altLang="en-US"/>
              <a:t>í</a:t>
            </a:r>
            <a:r>
              <a:rPr lang="en-US" altLang="pt-BR"/>
              <a:t>fica e pode ser acessado por outras aplica</a:t>
            </a:r>
            <a:r>
              <a:rPr lang="en-US" altLang="en-US"/>
              <a:t>çõ</a:t>
            </a:r>
            <a:r>
              <a:rPr lang="en-US" altLang="pt-BR"/>
              <a:t>es ou sistemas via protocolos padronizados (HTTP, mensageria, etc.). Servi</a:t>
            </a:r>
            <a:r>
              <a:rPr lang="en-US" altLang="en-US"/>
              <a:t>ç</a:t>
            </a:r>
            <a:r>
              <a:rPr lang="en-US" altLang="pt-BR"/>
              <a:t>os s</a:t>
            </a:r>
            <a:r>
              <a:rPr lang="en-US" altLang="en-US"/>
              <a:t>ã</a:t>
            </a:r>
            <a:r>
              <a:rPr lang="en-US" altLang="pt-BR"/>
              <a:t>o a base de arquiteturas distribu</a:t>
            </a:r>
            <a:r>
              <a:rPr lang="en-US" altLang="en-US"/>
              <a:t>í</a:t>
            </a:r>
            <a:r>
              <a:rPr lang="en-US" altLang="pt-BR"/>
              <a:t>das, como SOA (Service-Oriented Architecture) e Microsservi</a:t>
            </a:r>
            <a:r>
              <a:rPr lang="en-US" altLang="en-US"/>
              <a:t>ç</a:t>
            </a:r>
            <a:r>
              <a:rPr lang="en-US" altLang="pt-BR"/>
              <a:t>os.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Principais Caracter</a:t>
            </a:r>
            <a:r>
              <a:rPr lang="en-US" altLang="en-US"/>
              <a:t>í</a:t>
            </a:r>
            <a:r>
              <a:rPr lang="en-US" altLang="pt-BR"/>
              <a:t>sticas de um Servi</a:t>
            </a:r>
            <a:r>
              <a:rPr lang="en-US" altLang="en-US"/>
              <a:t>ç</a:t>
            </a:r>
            <a:r>
              <a:rPr lang="en-US" altLang="pt-BR"/>
              <a:t>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Modularidade: Funcionalidade bem definida e isolada.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Independ</a:t>
            </a:r>
            <a:r>
              <a:rPr lang="en-US" altLang="en-US"/>
              <a:t>ê</a:t>
            </a:r>
            <a:r>
              <a:rPr lang="en-US" altLang="pt-BR"/>
              <a:t>ncia: Cada servi</a:t>
            </a:r>
            <a:r>
              <a:rPr lang="en-US" altLang="en-US"/>
              <a:t>ç</a:t>
            </a:r>
            <a:r>
              <a:rPr lang="en-US" altLang="pt-BR"/>
              <a:t>o pode operar de forma autônoma.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Interoperabilidade: Servi</a:t>
            </a:r>
            <a:r>
              <a:rPr lang="en-US" altLang="en-US"/>
              <a:t>ç</a:t>
            </a:r>
            <a:r>
              <a:rPr lang="en-US" altLang="pt-BR"/>
              <a:t>os podem se comunicar entre si, independentemente da linguagem de programa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usada.</a:t>
            </a:r>
            <a:r>
              <a:rPr lang="pt-BR" altLang="en-US"/>
              <a:t> </a:t>
            </a:r>
            <a:r>
              <a:rPr lang="en-US" altLang="pt-BR"/>
              <a:t>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via padr</a:t>
            </a:r>
            <a:r>
              <a:rPr lang="en-US" altLang="en-US"/>
              <a:t>õ</a:t>
            </a:r>
            <a:r>
              <a:rPr lang="en-US" altLang="pt-BR"/>
              <a:t>es abertos (REST, SOAP, gRPC).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Reutiliza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 Podem ser usados por diferentes aplica</a:t>
            </a:r>
            <a:r>
              <a:rPr lang="en-US" altLang="en-US"/>
              <a:t>çõ</a:t>
            </a:r>
            <a:r>
              <a:rPr lang="en-US" altLang="pt-BR"/>
              <a:t>es sem necessidade de reescrita.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Escalabilidade: Podem ser expandidos ou reduzidos conforme a demanda.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Facilidade de Manuten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 Atualiza</a:t>
            </a:r>
            <a:r>
              <a:rPr lang="en-US" altLang="en-US"/>
              <a:t>çõ</a:t>
            </a:r>
            <a:r>
              <a:rPr lang="en-US" altLang="pt-BR"/>
              <a:t>es e corre</a:t>
            </a:r>
            <a:r>
              <a:rPr lang="en-US" altLang="en-US"/>
              <a:t>çõ</a:t>
            </a:r>
            <a:r>
              <a:rPr lang="en-US" altLang="pt-BR"/>
              <a:t>es podem ser feitas sem impactar toda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2. Tipos de 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en-US" altLang="pt-BR" sz="1800"/>
              <a:t>Os servi</a:t>
            </a:r>
            <a:r>
              <a:rPr lang="en-US" altLang="en-US" sz="1800"/>
              <a:t>ç</a:t>
            </a:r>
            <a:r>
              <a:rPr lang="en-US" altLang="pt-BR" sz="1800"/>
              <a:t>os podem ser categorizados em diferentes tipos, dependendo da forma como s</a:t>
            </a:r>
            <a:r>
              <a:rPr lang="en-US" altLang="en-US" sz="1800"/>
              <a:t>ã</a:t>
            </a:r>
            <a:r>
              <a:rPr lang="en-US" altLang="pt-BR" sz="1800"/>
              <a:t>o utilizados e implementados.</a:t>
            </a:r>
            <a:endParaRPr lang="en-US" altLang="pt-BR" sz="1800"/>
          </a:p>
          <a:p>
            <a:pPr algn="just"/>
            <a:endParaRPr lang="en-US" altLang="pt-BR" sz="1800"/>
          </a:p>
          <a:p>
            <a:pPr algn="just"/>
            <a:r>
              <a:rPr lang="en-US" altLang="pt-BR" sz="1800" b="1"/>
              <a:t>2.1 Servi</a:t>
            </a:r>
            <a:r>
              <a:rPr lang="en-US" altLang="en-US" sz="1800" b="1"/>
              <a:t>ç</a:t>
            </a:r>
            <a:r>
              <a:rPr lang="en-US" altLang="pt-BR" sz="1800" b="1"/>
              <a:t>os Locais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Servi</a:t>
            </a:r>
            <a:r>
              <a:rPr lang="en-US" altLang="en-US" sz="1800"/>
              <a:t>ç</a:t>
            </a:r>
            <a:r>
              <a:rPr lang="en-US" altLang="pt-BR" sz="1800"/>
              <a:t>os que s</a:t>
            </a:r>
            <a:r>
              <a:rPr lang="en-US" altLang="en-US" sz="1800"/>
              <a:t>ã</a:t>
            </a:r>
            <a:r>
              <a:rPr lang="en-US" altLang="pt-BR" sz="1800"/>
              <a:t>o utilizados dentro de uma mesma aplica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ou sistema, sem necessidade de comunica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externa.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600"/>
              <a:t>Exemplo: Uma fun</a:t>
            </a:r>
            <a:r>
              <a:rPr lang="en-US" altLang="en-US" sz="1600"/>
              <a:t>ç</a:t>
            </a:r>
            <a:r>
              <a:rPr lang="en-US" altLang="en-US" sz="1600"/>
              <a:t>ã</a:t>
            </a:r>
            <a:r>
              <a:rPr lang="en-US" altLang="pt-BR" sz="1600"/>
              <a:t>o de valida</a:t>
            </a:r>
            <a:r>
              <a:rPr lang="en-US" altLang="en-US" sz="1600"/>
              <a:t>ç</a:t>
            </a:r>
            <a:r>
              <a:rPr lang="en-US" altLang="en-US" sz="1600"/>
              <a:t>ã</a:t>
            </a:r>
            <a:r>
              <a:rPr lang="en-US" altLang="pt-BR" sz="1600"/>
              <a:t>o de CPF em um sistema de cadastro.</a:t>
            </a:r>
            <a:endParaRPr lang="en-US" altLang="pt-BR" sz="1600"/>
          </a:p>
          <a:p>
            <a:pPr algn="just"/>
            <a:endParaRPr lang="en-US" altLang="pt-BR" sz="1800"/>
          </a:p>
          <a:p>
            <a:pPr algn="just"/>
            <a:r>
              <a:rPr lang="en-US" altLang="pt-BR" sz="1800" b="1"/>
              <a:t>2.2 Servi</a:t>
            </a:r>
            <a:r>
              <a:rPr lang="en-US" altLang="en-US" sz="1800" b="1"/>
              <a:t>ç</a:t>
            </a:r>
            <a:r>
              <a:rPr lang="en-US" altLang="pt-BR" sz="1800" b="1"/>
              <a:t>os Web (Web Services)</a:t>
            </a:r>
            <a:endParaRPr lang="en-US" altLang="pt-BR" sz="1800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sz="1800"/>
              <a:t>Servi</a:t>
            </a:r>
            <a:r>
              <a:rPr lang="en-US" altLang="en-US" sz="1800"/>
              <a:t>ç</a:t>
            </a:r>
            <a:r>
              <a:rPr lang="en-US" altLang="pt-BR" sz="1800"/>
              <a:t>os que permitem a comunica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entre diferentes sistemas pela internet, utilizando protocolos padronizados como HTTP.</a:t>
            </a:r>
            <a:r>
              <a:rPr lang="pt-BR" altLang="en-US" sz="1800"/>
              <a:t> </a:t>
            </a:r>
            <a:r>
              <a:rPr lang="en-US" altLang="pt-BR" sz="1800"/>
              <a:t>RESTful APIs: Usam JSON/XML e m</a:t>
            </a:r>
            <a:r>
              <a:rPr lang="en-US" altLang="en-US" sz="1800"/>
              <a:t>é</a:t>
            </a:r>
            <a:r>
              <a:rPr lang="en-US" altLang="pt-BR" sz="1800"/>
              <a:t>todos HTTP (GET, POST, etc.).</a:t>
            </a:r>
            <a:r>
              <a:rPr lang="pt-BR" altLang="en-US" sz="1800"/>
              <a:t> </a:t>
            </a:r>
            <a:r>
              <a:rPr lang="en-US" altLang="pt-BR" sz="1800"/>
              <a:t>SOAP: Protocolo baseado em XML com estrutura r</a:t>
            </a:r>
            <a:r>
              <a:rPr lang="en-US" altLang="en-US" sz="1800"/>
              <a:t>í</a:t>
            </a:r>
            <a:r>
              <a:rPr lang="en-US" altLang="pt-BR" sz="1800"/>
              <a:t>gida (WSDL).</a:t>
            </a:r>
            <a:r>
              <a:rPr lang="pt-BR" altLang="en-US" sz="1800"/>
              <a:t> </a:t>
            </a:r>
            <a:r>
              <a:rPr lang="en-US" altLang="pt-BR" sz="1800"/>
              <a:t>GraphQL: Permite consultas flex</a:t>
            </a:r>
            <a:r>
              <a:rPr lang="en-US" altLang="en-US" sz="1800"/>
              <a:t>í</a:t>
            </a:r>
            <a:r>
              <a:rPr lang="en-US" altLang="pt-BR" sz="1800"/>
              <a:t>veis ao cliente.</a:t>
            </a:r>
            <a:endParaRPr lang="en-US" altLang="pt-BR" sz="18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pt-BR" sz="1600"/>
              <a:t>Exemplo: APIs RESTful para cadastro de usu</a:t>
            </a:r>
            <a:r>
              <a:rPr lang="en-US" altLang="en-US" sz="1600"/>
              <a:t>á</a:t>
            </a:r>
            <a:r>
              <a:rPr lang="en-US" altLang="pt-BR" sz="1600"/>
              <a:t>rios.</a:t>
            </a:r>
            <a:endParaRPr lang="en-US" altLang="pt-BR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 Tipos de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pt-BR" sz="2000" b="1"/>
              <a:t>2.3 Servi</a:t>
            </a:r>
            <a:r>
              <a:rPr lang="en-US" altLang="en-US" sz="2000" b="1"/>
              <a:t>ç</a:t>
            </a:r>
            <a:r>
              <a:rPr lang="en-US" altLang="pt-BR" sz="2000" b="1"/>
              <a:t>os em Nuvem (Cloud Services)</a:t>
            </a:r>
            <a:endParaRPr lang="en-US" altLang="pt-B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2000"/>
              <a:t>Servi</a:t>
            </a:r>
            <a:r>
              <a:rPr lang="en-US" altLang="en-US" sz="2000"/>
              <a:t>ç</a:t>
            </a:r>
            <a:r>
              <a:rPr lang="en-US" altLang="pt-BR" sz="2000"/>
              <a:t>os hospedados em plataformas de computa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em nuvem, como AWS, Azure e Google Cloud.</a:t>
            </a:r>
            <a:endParaRPr lang="en-US" altLang="pt-BR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pt-BR" sz="1800"/>
              <a:t>Exemplo: Armazenamento de arquivos no Amazon S3.</a:t>
            </a:r>
            <a:endParaRPr lang="en-US" altLang="pt-BR" sz="1800"/>
          </a:p>
          <a:p>
            <a:endParaRPr lang="en-US" altLang="pt-BR" sz="2000"/>
          </a:p>
          <a:p>
            <a:r>
              <a:rPr lang="en-US" altLang="pt-BR" sz="2000" b="1"/>
              <a:t>2.4 Servi</a:t>
            </a:r>
            <a:r>
              <a:rPr lang="en-US" altLang="en-US" sz="2000" b="1"/>
              <a:t>ç</a:t>
            </a:r>
            <a:r>
              <a:rPr lang="en-US" altLang="pt-BR" sz="2000" b="1"/>
              <a:t>os de Banco de Dados</a:t>
            </a:r>
            <a:endParaRPr lang="en-US" altLang="pt-B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2000"/>
              <a:t>Servi</a:t>
            </a:r>
            <a:r>
              <a:rPr lang="en-US" altLang="en-US" sz="2000"/>
              <a:t>ç</a:t>
            </a:r>
            <a:r>
              <a:rPr lang="en-US" altLang="pt-BR" sz="2000"/>
              <a:t>os espec</a:t>
            </a:r>
            <a:r>
              <a:rPr lang="en-US" altLang="en-US" sz="2000"/>
              <a:t>í</a:t>
            </a:r>
            <a:r>
              <a:rPr lang="en-US" altLang="pt-BR" sz="2000"/>
              <a:t>ficos para armazenamento, consulta e manipula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de dados.</a:t>
            </a:r>
            <a:endParaRPr lang="en-US" altLang="pt-BR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pt-BR" sz="1800"/>
              <a:t>Exemplo: Firebase Firestore ou MySQL.</a:t>
            </a:r>
            <a:endParaRPr lang="en-US" altLang="pt-BR" sz="1800"/>
          </a:p>
          <a:p>
            <a:endParaRPr lang="en-US" altLang="pt-BR" sz="2000"/>
          </a:p>
          <a:p>
            <a:r>
              <a:rPr lang="en-US" altLang="pt-BR" sz="2000" b="1"/>
              <a:t>2.5 Servi</a:t>
            </a:r>
            <a:r>
              <a:rPr lang="en-US" altLang="en-US" sz="2000" b="1"/>
              <a:t>ç</a:t>
            </a:r>
            <a:r>
              <a:rPr lang="en-US" altLang="pt-BR" sz="2000" b="1"/>
              <a:t>os de Mensage</a:t>
            </a:r>
            <a:r>
              <a:rPr lang="pt-BR" altLang="en-US" sz="2000" b="1"/>
              <a:t>ns (Comunicação)</a:t>
            </a:r>
            <a:endParaRPr lang="en-US" altLang="pt-B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2000"/>
              <a:t>Servi</a:t>
            </a:r>
            <a:r>
              <a:rPr lang="en-US" altLang="en-US" sz="2000"/>
              <a:t>ç</a:t>
            </a:r>
            <a:r>
              <a:rPr lang="en-US" altLang="pt-BR" sz="2000"/>
              <a:t>os que facilitam a comunica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ass</a:t>
            </a:r>
            <a:r>
              <a:rPr lang="en-US" altLang="en-US" sz="2000"/>
              <a:t>í</a:t>
            </a:r>
            <a:r>
              <a:rPr lang="en-US" altLang="pt-BR" sz="2000"/>
              <a:t>ncrona entre sistemas.</a:t>
            </a:r>
            <a:endParaRPr lang="en-US" altLang="pt-BR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pt-BR" sz="1800"/>
              <a:t>Exemplo: RabbitMQ ou Apache Kafka.</a:t>
            </a:r>
            <a:endParaRPr lang="en-US" altLang="pt-B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 Tipos de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 altLang="pt-BR" b="1"/>
              <a:t>2.</a:t>
            </a:r>
            <a:r>
              <a:rPr lang="pt-BR" altLang="en-US" b="1"/>
              <a:t>6</a:t>
            </a:r>
            <a:r>
              <a:rPr lang="en-US" altLang="pt-BR" b="1"/>
              <a:t> Microsservi</a:t>
            </a:r>
            <a:r>
              <a:rPr lang="en-US" altLang="en-US" b="1"/>
              <a:t>ç</a:t>
            </a:r>
            <a:r>
              <a:rPr lang="en-US" altLang="pt-BR" b="1"/>
              <a:t>os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os altamente especializados e independentes, como discutido na aula anterior. Cada microsservi</a:t>
            </a:r>
            <a:r>
              <a:rPr lang="en-US" altLang="en-US"/>
              <a:t>ç</a:t>
            </a:r>
            <a:r>
              <a:rPr lang="en-US" altLang="pt-BR"/>
              <a:t>o gerencia seu pr</a:t>
            </a:r>
            <a:r>
              <a:rPr lang="en-US" altLang="en-US"/>
              <a:t>ó</a:t>
            </a:r>
            <a:r>
              <a:rPr lang="en-US" altLang="pt-BR"/>
              <a:t>prio banco de dados e l</a:t>
            </a:r>
            <a:r>
              <a:rPr lang="en-US" altLang="en-US"/>
              <a:t>ó</a:t>
            </a:r>
            <a:r>
              <a:rPr lang="en-US" altLang="pt-BR"/>
              <a:t>gica.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 b="1"/>
              <a:t>2.</a:t>
            </a:r>
            <a:r>
              <a:rPr lang="pt-BR" altLang="en-US" b="1"/>
              <a:t>7</a:t>
            </a:r>
            <a:r>
              <a:rPr lang="en-US" altLang="pt-BR" b="1"/>
              <a:t> SOA (Service-Oriented Architecture)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Arquitetura onde servi</a:t>
            </a:r>
            <a:r>
              <a:rPr lang="en-US" altLang="en-US"/>
              <a:t>ç</a:t>
            </a:r>
            <a:r>
              <a:rPr lang="en-US" altLang="pt-BR"/>
              <a:t>os s</a:t>
            </a:r>
            <a:r>
              <a:rPr lang="en-US" altLang="en-US"/>
              <a:t>ã</a:t>
            </a:r>
            <a:r>
              <a:rPr lang="en-US" altLang="pt-BR"/>
              <a:t>o projetados para colaborar entre si, mas com maior acoplamento comparado a microsservi</a:t>
            </a:r>
            <a:r>
              <a:rPr lang="en-US" altLang="en-US"/>
              <a:t>ç</a:t>
            </a:r>
            <a:r>
              <a:rPr lang="en-US" altLang="pt-BR"/>
              <a:t>os. </a:t>
            </a:r>
            <a:endParaRPr lang="en-US" altLang="pt-BR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pt-BR"/>
              <a:t>Exemplo:</a:t>
            </a:r>
            <a:r>
              <a:rPr lang="pt-BR" altLang="en-US"/>
              <a:t> </a:t>
            </a:r>
            <a:r>
              <a:rPr lang="en-US" altLang="pt-BR"/>
              <a:t>ESB (Enterprise Service Bus): Centraliza a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entre servi</a:t>
            </a:r>
            <a:r>
              <a:rPr lang="en-US" altLang="en-US"/>
              <a:t>ç</a:t>
            </a:r>
            <a:r>
              <a:rPr lang="en-US" altLang="pt-BR"/>
              <a:t>os.</a:t>
            </a:r>
            <a:endParaRPr lang="en-US" altLang="pt-BR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/>
              <a:t>Exemplo: </a:t>
            </a:r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os Grandulares: Funcionalidades mais amplas (ex: servi</a:t>
            </a:r>
            <a:r>
              <a:rPr lang="en-US" altLang="en-US"/>
              <a:t>ç</a:t>
            </a:r>
            <a:r>
              <a:rPr lang="en-US" altLang="pt-BR"/>
              <a:t>o de "Pedidos" que gerencia todo o ciclo de compras).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3. O que </a:t>
            </a:r>
            <a:r>
              <a:rPr lang="en-US" altLang="en-US"/>
              <a:t>é</a:t>
            </a:r>
            <a:r>
              <a:rPr lang="en-US" altLang="pt-BR"/>
              <a:t> um Monolito?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en-US" altLang="pt-BR"/>
              <a:t>Um monolito em desenvolvimento web </a:t>
            </a:r>
            <a:r>
              <a:rPr lang="en-US" altLang="en-US"/>
              <a:t>é</a:t>
            </a:r>
            <a:r>
              <a:rPr lang="en-US" altLang="pt-BR"/>
              <a:t> uma arquitetura de software onde toda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constru</a:t>
            </a:r>
            <a:r>
              <a:rPr lang="en-US" altLang="en-US"/>
              <a:t>í</a:t>
            </a:r>
            <a:r>
              <a:rPr lang="en-US" altLang="pt-BR"/>
              <a:t>da, implantada e executada como uma </a:t>
            </a:r>
            <a:r>
              <a:rPr lang="en-US" altLang="en-US"/>
              <a:t>ú</a:t>
            </a:r>
            <a:r>
              <a:rPr lang="en-US" altLang="pt-BR"/>
              <a:t>nica unidade. 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Todas as funcionalidades do sistema - desde a interface do usu</a:t>
            </a:r>
            <a:r>
              <a:rPr lang="en-US" altLang="en-US"/>
              <a:t>á</a:t>
            </a:r>
            <a:r>
              <a:rPr lang="en-US" altLang="pt-BR"/>
              <a:t>rio at</a:t>
            </a:r>
            <a:r>
              <a:rPr lang="en-US" altLang="en-US"/>
              <a:t>é</a:t>
            </a:r>
            <a:r>
              <a:rPr lang="en-US" altLang="pt-BR"/>
              <a:t> o acesso ao banco de dados - est</a:t>
            </a:r>
            <a:r>
              <a:rPr lang="en-US" altLang="en-US"/>
              <a:t>ã</a:t>
            </a:r>
            <a:r>
              <a:rPr lang="en-US" altLang="pt-BR"/>
              <a:t>o contidas em um </a:t>
            </a:r>
            <a:r>
              <a:rPr lang="en-US" altLang="en-US"/>
              <a:t>ú</a:t>
            </a:r>
            <a:r>
              <a:rPr lang="en-US" altLang="pt-BR"/>
              <a:t>nico codebase e s</a:t>
            </a:r>
            <a:r>
              <a:rPr lang="en-US" altLang="en-US"/>
              <a:t>ã</a:t>
            </a:r>
            <a:r>
              <a:rPr lang="en-US" altLang="pt-BR"/>
              <a:t>o implementadas na mesma plataforma tecnol</a:t>
            </a:r>
            <a:r>
              <a:rPr lang="en-US" altLang="en-US"/>
              <a:t>ó</a:t>
            </a:r>
            <a:r>
              <a:rPr lang="en-US" altLang="pt-BR"/>
              <a:t>gica.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Um monolito </a:t>
            </a:r>
            <a:r>
              <a:rPr lang="en-US" altLang="en-US"/>
              <a:t>é</a:t>
            </a:r>
            <a:r>
              <a:rPr lang="en-US" altLang="pt-BR"/>
              <a:t>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constru</a:t>
            </a:r>
            <a:r>
              <a:rPr lang="en-US" altLang="en-US"/>
              <a:t>í</a:t>
            </a:r>
            <a:r>
              <a:rPr lang="en-US" altLang="pt-BR"/>
              <a:t>da como um </a:t>
            </a:r>
            <a:r>
              <a:rPr lang="en-US" altLang="en-US"/>
              <a:t>ú</a:t>
            </a:r>
            <a:r>
              <a:rPr lang="en-US" altLang="pt-BR"/>
              <a:t>nico bloco de c</a:t>
            </a:r>
            <a:r>
              <a:rPr lang="en-US" altLang="en-US"/>
              <a:t>ó</a:t>
            </a:r>
            <a:r>
              <a:rPr lang="en-US" altLang="pt-BR"/>
              <a:t>digo, onde todas as funcionalidades (UI, l</a:t>
            </a:r>
            <a:r>
              <a:rPr lang="en-US" altLang="en-US"/>
              <a:t>ó</a:t>
            </a:r>
            <a:r>
              <a:rPr lang="en-US" altLang="pt-BR"/>
              <a:t>gica de neg</a:t>
            </a:r>
            <a:r>
              <a:rPr lang="en-US" altLang="en-US"/>
              <a:t>ó</a:t>
            </a:r>
            <a:r>
              <a:rPr lang="en-US" altLang="pt-BR"/>
              <a:t>cio, acesso a dados) est</a:t>
            </a:r>
            <a:r>
              <a:rPr lang="en-US" altLang="en-US"/>
              <a:t>ã</a:t>
            </a:r>
            <a:r>
              <a:rPr lang="en-US" altLang="pt-BR"/>
              <a:t>o acopladas em um </a:t>
            </a:r>
            <a:r>
              <a:rPr lang="en-US" altLang="en-US"/>
              <a:t>ú</a:t>
            </a:r>
            <a:r>
              <a:rPr lang="en-US" altLang="pt-BR"/>
              <a:t>nico processo.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Caracter</a:t>
            </a:r>
            <a:r>
              <a:rPr lang="en-US" altLang="en-US"/>
              <a:t>í</a:t>
            </a:r>
            <a:r>
              <a:rPr lang="en-US" altLang="pt-BR"/>
              <a:t>sticas de um Monolito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>
                <a:sym typeface="+mn-ea"/>
              </a:rPr>
              <a:t>C</a:t>
            </a:r>
            <a:r>
              <a:rPr lang="en-US" altLang="en-US" b="1">
                <a:sym typeface="+mn-ea"/>
              </a:rPr>
              <a:t>ó</a:t>
            </a:r>
            <a:r>
              <a:rPr lang="en-US" altLang="pt-BR" b="1">
                <a:sym typeface="+mn-ea"/>
              </a:rPr>
              <a:t>digo-fonte unificado</a:t>
            </a:r>
            <a:r>
              <a:rPr lang="en-US" altLang="pt-BR">
                <a:sym typeface="+mn-ea"/>
              </a:rPr>
              <a:t>: Todas as funcionalidades est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em um 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nico reposit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 ou projeto.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Banco de Dados Centralizado</a:t>
            </a:r>
            <a:r>
              <a:rPr lang="en-US" altLang="pt-BR"/>
              <a:t>: Uma </a:t>
            </a:r>
            <a:r>
              <a:rPr lang="en-US" altLang="en-US"/>
              <a:t>ú</a:t>
            </a:r>
            <a:r>
              <a:rPr lang="en-US" altLang="pt-BR"/>
              <a:t>nica base de dados serve todas as funcionalidades.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Escalabilidade Vertical</a:t>
            </a:r>
            <a:r>
              <a:rPr lang="en-US" altLang="pt-BR"/>
              <a:t>: Para lidar com mais carga, </a:t>
            </a:r>
            <a:r>
              <a:rPr lang="en-US" altLang="en-US"/>
              <a:t>é</a:t>
            </a:r>
            <a:r>
              <a:rPr lang="en-US" altLang="pt-BR"/>
              <a:t> preciso aumentar recursos da m</a:t>
            </a:r>
            <a:r>
              <a:rPr lang="en-US" altLang="en-US"/>
              <a:t>á</a:t>
            </a:r>
            <a:r>
              <a:rPr lang="en-US" altLang="pt-BR"/>
              <a:t>quina (CPU, RAM).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>
                <a:sym typeface="+mn-ea"/>
              </a:rPr>
              <a:t>Dificuldade de Escalabilidade</a:t>
            </a:r>
            <a:r>
              <a:rPr lang="en-US" altLang="pt-BR">
                <a:sym typeface="+mn-ea"/>
              </a:rPr>
              <a:t>: Cresce de forma vertical, dificultando a distribui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Centraliza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</a:t>
            </a:r>
            <a:r>
              <a:rPr lang="en-US" altLang="pt-BR"/>
              <a:t>: Todo o sistema est</a:t>
            </a:r>
            <a:r>
              <a:rPr lang="en-US" altLang="en-US"/>
              <a:t>á</a:t>
            </a:r>
            <a:r>
              <a:rPr lang="en-US" altLang="pt-BR"/>
              <a:t> em um </a:t>
            </a:r>
            <a:r>
              <a:rPr lang="en-US" altLang="en-US"/>
              <a:t>ú</a:t>
            </a:r>
            <a:r>
              <a:rPr lang="en-US" altLang="pt-BR"/>
              <a:t>nico c</a:t>
            </a:r>
            <a:r>
              <a:rPr lang="en-US" altLang="en-US"/>
              <a:t>ó</a:t>
            </a:r>
            <a:r>
              <a:rPr lang="en-US" altLang="pt-BR"/>
              <a:t>digo-fonte.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Depend</a:t>
            </a:r>
            <a:r>
              <a:rPr lang="en-US" altLang="en-US" b="1"/>
              <a:t>ê</a:t>
            </a:r>
            <a:r>
              <a:rPr lang="en-US" altLang="pt-BR" b="1"/>
              <a:t>ncia Total</a:t>
            </a:r>
            <a:r>
              <a:rPr lang="en-US" altLang="pt-BR"/>
              <a:t>: Atualiza</a:t>
            </a:r>
            <a:r>
              <a:rPr lang="en-US" altLang="en-US"/>
              <a:t>çõ</a:t>
            </a:r>
            <a:r>
              <a:rPr lang="en-US" altLang="pt-BR"/>
              <a:t>es precisam ser feitas no sistea inteiro.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Maior Complexidade</a:t>
            </a:r>
            <a:r>
              <a:rPr lang="en-US" altLang="pt-BR"/>
              <a:t>: Com o tempo, pode se tornar dif</a:t>
            </a:r>
            <a:r>
              <a:rPr lang="en-US" altLang="en-US"/>
              <a:t>í</a:t>
            </a:r>
            <a:r>
              <a:rPr lang="en-US" altLang="pt-BR"/>
              <a:t>cil de manter.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Implanta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</a:t>
            </a:r>
            <a:r>
              <a:rPr lang="en-US" altLang="en-US" b="1"/>
              <a:t>ú</a:t>
            </a:r>
            <a:r>
              <a:rPr lang="en-US" altLang="pt-BR" b="1"/>
              <a:t>nica</a:t>
            </a:r>
            <a:r>
              <a:rPr lang="en-US" altLang="pt-BR"/>
              <a:t>: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inteira </a:t>
            </a:r>
            <a:r>
              <a:rPr lang="en-US" altLang="en-US"/>
              <a:t>é</a:t>
            </a:r>
            <a:r>
              <a:rPr lang="en-US" altLang="pt-BR"/>
              <a:t> compilada e implantada como uma unidade.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Tecnologia homog</a:t>
            </a:r>
            <a:r>
              <a:rPr lang="en-US" altLang="en-US" b="1"/>
              <a:t>ê</a:t>
            </a:r>
            <a:r>
              <a:rPr lang="en-US" altLang="pt-BR" b="1"/>
              <a:t>nea</a:t>
            </a:r>
            <a:r>
              <a:rPr lang="en-US" altLang="pt-BR"/>
              <a:t>: Usa a mesma linguagem de programa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framework para toda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Vantagens e Desvantagens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 altLang="pt-BR" b="1"/>
              <a:t>Vantagens do Monolito</a:t>
            </a:r>
            <a:endParaRPr lang="en-US" altLang="pt-BR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Simplicidade</a:t>
            </a:r>
            <a:r>
              <a:rPr lang="en-US" altLang="pt-BR"/>
              <a:t>: F</a:t>
            </a:r>
            <a:r>
              <a:rPr lang="en-US" altLang="en-US"/>
              <a:t>á</a:t>
            </a:r>
            <a:r>
              <a:rPr lang="en-US" altLang="pt-BR"/>
              <a:t>cil de desenvolver e testar em est</a:t>
            </a:r>
            <a:r>
              <a:rPr lang="en-US" altLang="en-US"/>
              <a:t>á</a:t>
            </a:r>
            <a:r>
              <a:rPr lang="en-US" altLang="pt-BR"/>
              <a:t>gios iniciais.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Transa</a:t>
            </a:r>
            <a:r>
              <a:rPr lang="en-US" altLang="en-US" b="1"/>
              <a:t>çõ</a:t>
            </a:r>
            <a:r>
              <a:rPr lang="en-US" altLang="pt-BR" b="1"/>
              <a:t>es ACID</a:t>
            </a:r>
            <a:r>
              <a:rPr lang="en-US" altLang="pt-BR"/>
              <a:t>: Garantia de consist</a:t>
            </a:r>
            <a:r>
              <a:rPr lang="en-US" altLang="en-US"/>
              <a:t>ê</a:t>
            </a:r>
            <a:r>
              <a:rPr lang="en-US" altLang="pt-BR"/>
              <a:t>ncia em opera</a:t>
            </a:r>
            <a:r>
              <a:rPr lang="en-US" altLang="en-US"/>
              <a:t>çõ</a:t>
            </a:r>
            <a:r>
              <a:rPr lang="en-US" altLang="pt-BR"/>
              <a:t>es no banco de dados.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Deploy Simplificado</a:t>
            </a:r>
            <a:r>
              <a:rPr lang="en-US" altLang="pt-BR"/>
              <a:t>: Apenas um artefato para implantar.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 b="1"/>
              <a:t>Desvantagens do Monolito</a:t>
            </a:r>
            <a:endParaRPr lang="en-US" altLang="pt-BR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Acoplamento</a:t>
            </a:r>
            <a:r>
              <a:rPr lang="en-US" altLang="pt-BR"/>
              <a:t>: Mudan</a:t>
            </a:r>
            <a:r>
              <a:rPr lang="en-US" altLang="en-US"/>
              <a:t>ç</a:t>
            </a:r>
            <a:r>
              <a:rPr lang="en-US" altLang="pt-BR"/>
              <a:t>as em uma funcionalidade podem afetar outras.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Escalabilidade Limitada</a:t>
            </a:r>
            <a:r>
              <a:rPr lang="en-US" altLang="pt-BR"/>
              <a:t>: N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poss</a:t>
            </a:r>
            <a:r>
              <a:rPr lang="en-US" altLang="en-US"/>
              <a:t>í</a:t>
            </a:r>
            <a:r>
              <a:rPr lang="en-US" altLang="pt-BR"/>
              <a:t>vel escalar partes espec</a:t>
            </a:r>
            <a:r>
              <a:rPr lang="en-US" altLang="en-US"/>
              <a:t>í</a:t>
            </a:r>
            <a:r>
              <a:rPr lang="en-US" altLang="pt-BR"/>
              <a:t>ficas.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Complexidade Crescente</a:t>
            </a:r>
            <a:r>
              <a:rPr lang="en-US" altLang="pt-BR"/>
              <a:t>: Manuten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dif</a:t>
            </a:r>
            <a:r>
              <a:rPr lang="en-US" altLang="en-US"/>
              <a:t>í</a:t>
            </a:r>
            <a:r>
              <a:rPr lang="en-US" altLang="pt-BR"/>
              <a:t>cil à medida que o sistema cresce.</a:t>
            </a:r>
            <a:endParaRPr lang="en-US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/>
              <a:t>4</a:t>
            </a:r>
            <a:r>
              <a:rPr lang="en-US" altLang="pt-BR"/>
              <a:t>. Quando Usar Cada Abordagem?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pt-BR" b="1"/>
              <a:t>Monolito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Projetos pequenos ou MVP.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Equipes pequenas e coesas.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Quando a consist</a:t>
            </a:r>
            <a:r>
              <a:rPr lang="en-US" altLang="en-US"/>
              <a:t>ê</a:t>
            </a:r>
            <a:r>
              <a:rPr lang="en-US" altLang="pt-BR"/>
              <a:t>ncia de transa</a:t>
            </a:r>
            <a:r>
              <a:rPr lang="en-US" altLang="en-US"/>
              <a:t>çõ</a:t>
            </a:r>
            <a:r>
              <a:rPr lang="en-US" altLang="pt-BR"/>
              <a:t>es </a:t>
            </a:r>
            <a:r>
              <a:rPr lang="en-US" altLang="en-US"/>
              <a:t>é</a:t>
            </a:r>
            <a:r>
              <a:rPr lang="en-US" altLang="pt-BR"/>
              <a:t> cr</a:t>
            </a:r>
            <a:r>
              <a:rPr lang="en-US" altLang="en-US"/>
              <a:t>í</a:t>
            </a:r>
            <a:r>
              <a:rPr lang="en-US" altLang="pt-BR"/>
              <a:t>tica.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Servi</a:t>
            </a:r>
            <a:r>
              <a:rPr lang="en-US" altLang="en-US" b="1"/>
              <a:t>ç</a:t>
            </a:r>
            <a:r>
              <a:rPr lang="en-US" altLang="pt-BR" b="1"/>
              <a:t>os (SOA/Microsservi</a:t>
            </a:r>
            <a:r>
              <a:rPr lang="en-US" altLang="en-US" b="1"/>
              <a:t>ç</a:t>
            </a:r>
            <a:r>
              <a:rPr lang="en-US" altLang="pt-BR" b="1"/>
              <a:t>os)</a:t>
            </a:r>
            <a:endParaRPr lang="en-US" altLang="pt-BR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Sistemas complexos e escal</a:t>
            </a:r>
            <a:r>
              <a:rPr lang="en-US" altLang="en-US"/>
              <a:t>á</a:t>
            </a:r>
            <a:r>
              <a:rPr lang="en-US" altLang="pt-BR"/>
              <a:t>veis.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Equipes distribu</a:t>
            </a:r>
            <a:r>
              <a:rPr lang="en-US" altLang="en-US"/>
              <a:t>í</a:t>
            </a:r>
            <a:r>
              <a:rPr lang="en-US" altLang="pt-BR"/>
              <a:t>das ou multidisciplinares.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Necessidade de deploy cont</a:t>
            </a:r>
            <a:r>
              <a:rPr lang="en-US" altLang="en-US"/>
              <a:t>í</a:t>
            </a:r>
            <a:r>
              <a:rPr lang="en-US" altLang="pt-BR"/>
              <a:t>nuo e independente.</a:t>
            </a:r>
            <a:endParaRPr lang="en-US" alt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</a:t>
            </a:r>
            <a:r>
              <a:rPr lang="en-US" altLang="pt-BR">
                <a:sym typeface="+mn-ea"/>
              </a:rPr>
              <a:t>. Melhores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ticas para Projetar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Defina Responsabilidades Claras</a:t>
            </a:r>
            <a:r>
              <a:rPr lang="en-US" altLang="pt-BR"/>
              <a:t>: Evite servi</a:t>
            </a:r>
            <a:r>
              <a:rPr lang="en-US" altLang="en-US"/>
              <a:t>ç</a:t>
            </a:r>
            <a:r>
              <a:rPr lang="en-US" altLang="pt-BR"/>
              <a:t>os "God Class".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Use Contratos Bem Definidos</a:t>
            </a:r>
            <a:r>
              <a:rPr lang="en-US" altLang="pt-BR"/>
              <a:t>: Documente APIs com OpenAPI/Swagger.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Garanta Resili</a:t>
            </a:r>
            <a:r>
              <a:rPr lang="en-US" altLang="en-US" b="1"/>
              <a:t>ê</a:t>
            </a:r>
            <a:r>
              <a:rPr lang="en-US" altLang="pt-BR" b="1"/>
              <a:t>ncia</a:t>
            </a:r>
            <a:r>
              <a:rPr lang="en-US" altLang="pt-BR"/>
              <a:t>: Implemente retry, circuit breakers e timeouts.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Monitore Tudo</a:t>
            </a:r>
            <a:r>
              <a:rPr lang="en-US" altLang="pt-BR"/>
              <a:t>: Use ferramentas como Prometheus, Grafana ou New Relic.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Automatize a Infraestrutura</a:t>
            </a:r>
            <a:r>
              <a:rPr lang="en-US" altLang="pt-BR"/>
              <a:t>: Docker, Kubernetes e CI/CD.</a:t>
            </a:r>
            <a:endParaRPr lang="en-US" alt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BR" altLang="en-US"/>
              <a:t>Microsserviços</a:t>
            </a:r>
            <a:endParaRPr lang="pt-BR" altLang="en-US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1. O que s</a:t>
            </a:r>
            <a:r>
              <a:rPr lang="en-US" altLang="en-US"/>
              <a:t>ã</a:t>
            </a:r>
            <a:r>
              <a:rPr lang="en-US" altLang="pt-BR"/>
              <a:t>o Microsservi</a:t>
            </a:r>
            <a:r>
              <a:rPr lang="en-US" altLang="en-US"/>
              <a:t>ç</a:t>
            </a:r>
            <a:r>
              <a:rPr lang="en-US" altLang="pt-BR"/>
              <a:t>os?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altLang="pt-BR"/>
              <a:t>Microsservi</a:t>
            </a:r>
            <a:r>
              <a:rPr lang="en-US" altLang="en-US"/>
              <a:t>ç</a:t>
            </a:r>
            <a:r>
              <a:rPr lang="en-US" altLang="pt-BR"/>
              <a:t>os s</a:t>
            </a:r>
            <a:r>
              <a:rPr lang="en-US" altLang="en-US"/>
              <a:t>ã</a:t>
            </a:r>
            <a:r>
              <a:rPr lang="en-US" altLang="pt-BR"/>
              <a:t>o uma arquitetura de software que organiza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como uma cole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servi</a:t>
            </a:r>
            <a:r>
              <a:rPr lang="en-US" altLang="en-US"/>
              <a:t>ç</a:t>
            </a:r>
            <a:r>
              <a:rPr lang="en-US" altLang="pt-BR"/>
              <a:t>os pequenos, independentes e altamente especializados. </a:t>
            </a:r>
            <a:endParaRPr lang="en-US" altLang="pt-BR"/>
          </a:p>
          <a:p>
            <a:pPr algn="just"/>
            <a:r>
              <a:rPr lang="en-US" altLang="pt-BR"/>
              <a:t>Cada servi</a:t>
            </a:r>
            <a:r>
              <a:rPr lang="en-US" altLang="en-US"/>
              <a:t>ç</a:t>
            </a:r>
            <a:r>
              <a:rPr lang="en-US" altLang="pt-BR"/>
              <a:t>o:</a:t>
            </a:r>
            <a:endParaRPr lang="en-US" altLang="pt-BR"/>
          </a:p>
          <a:p>
            <a:pPr algn="just"/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Executa em seu pr</a:t>
            </a:r>
            <a:r>
              <a:rPr lang="en-US" altLang="en-US"/>
              <a:t>ó</a:t>
            </a:r>
            <a:r>
              <a:rPr lang="en-US" altLang="pt-BR"/>
              <a:t>prio processo (geralmente em containers).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Gerencia seu pr</a:t>
            </a:r>
            <a:r>
              <a:rPr lang="en-US" altLang="en-US"/>
              <a:t>ó</a:t>
            </a:r>
            <a:r>
              <a:rPr lang="en-US" altLang="pt-BR"/>
              <a:t>prio banco de dados (polyglot persistence).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Comunica-se via APIs (HTTP/REST, gRPC, mensageria).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Pode ser desenvolvido, implantado e escalado independentemente.</a:t>
            </a:r>
            <a:endParaRPr lang="en-US" alt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1. O que 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os?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O</a:t>
            </a:r>
            <a:r>
              <a:rPr lang="en-US" altLang="pt-BR"/>
              <a:t>s microsservi</a:t>
            </a:r>
            <a:r>
              <a:rPr lang="en-US" altLang="en-US"/>
              <a:t>ç</a:t>
            </a:r>
            <a:r>
              <a:rPr lang="en-US" altLang="pt-BR"/>
              <a:t>os normalmente:</a:t>
            </a:r>
            <a:endParaRPr lang="en-US" altLang="pt-BR"/>
          </a:p>
          <a:p>
            <a:pPr algn="just"/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Possuem seu pr</a:t>
            </a:r>
            <a:r>
              <a:rPr lang="en-US" altLang="en-US"/>
              <a:t>ó</a:t>
            </a:r>
            <a:r>
              <a:rPr lang="en-US" altLang="pt-BR"/>
              <a:t>prio stack de tecnologia, incluindo o banco de dados e o modelo de gerenciamento de dados.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Se comunicam entre si por meio de uma combina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APIs de transfer</a:t>
            </a:r>
            <a:r>
              <a:rPr lang="en-US" altLang="en-US"/>
              <a:t>ê</a:t>
            </a:r>
            <a:r>
              <a:rPr lang="en-US" altLang="pt-BR"/>
              <a:t>ncia de estado representacional (REST), fluxo de eventos e agentes de mensagens.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S</a:t>
            </a:r>
            <a:r>
              <a:rPr lang="en-US" altLang="en-US"/>
              <a:t>ã</a:t>
            </a:r>
            <a:r>
              <a:rPr lang="en-US" altLang="pt-BR"/>
              <a:t>o organizados por capacidade empresarial, com a linha que separa os servi</a:t>
            </a:r>
            <a:r>
              <a:rPr lang="en-US" altLang="en-US"/>
              <a:t>ç</a:t>
            </a:r>
            <a:r>
              <a:rPr lang="en-US" altLang="pt-BR"/>
              <a:t>os frequentemente chamada de contexto delimitado.</a:t>
            </a:r>
            <a:endParaRPr lang="en-US" alt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Desenvolvimento de aplica</a:t>
            </a:r>
            <a:r>
              <a:rPr lang="en-US" altLang="en-US"/>
              <a:t>çõ</a:t>
            </a:r>
            <a:r>
              <a:rPr lang="en-US" altLang="pt-BR"/>
              <a:t>es mais eficiente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en-US" altLang="pt-BR"/>
              <a:t>Uma arquitetura de microsservi</a:t>
            </a:r>
            <a:r>
              <a:rPr lang="en-US" altLang="en-US"/>
              <a:t>ç</a:t>
            </a:r>
            <a:r>
              <a:rPr lang="en-US" altLang="pt-BR"/>
              <a:t>os representa uma abordagem nativa em nuvem à cria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software, em que cada fun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principal de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pode existir de maneira independente. 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Quando os elementos de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</a:t>
            </a:r>
            <a:r>
              <a:rPr lang="en-US" altLang="en-US"/>
              <a:t>ã</a:t>
            </a:r>
            <a:r>
              <a:rPr lang="en-US" altLang="pt-BR"/>
              <a:t>o segregados dessa maneira, as equipes de desenvolvimento e de opera</a:t>
            </a:r>
            <a:r>
              <a:rPr lang="en-US" altLang="en-US"/>
              <a:t>çõ</a:t>
            </a:r>
            <a:r>
              <a:rPr lang="en-US" altLang="pt-BR"/>
              <a:t>es podem trabalhar juntas, sem interferir uma no trabalho da outra. 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Isso significa mais desenvolvedores trabalhando simultaneamente na mesma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reduzindo o tempo gasto com desenvolvimento.</a:t>
            </a:r>
            <a:endParaRPr lang="en-US" alt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2. Caracter</a:t>
            </a:r>
            <a:r>
              <a:rPr lang="en-US" altLang="en-US"/>
              <a:t>í</a:t>
            </a:r>
            <a:r>
              <a:rPr lang="en-US" altLang="pt-BR"/>
              <a:t>sticas Principais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en-US" altLang="pt-BR" sz="1800" b="1"/>
              <a:t>2.1 Componentiza</a:t>
            </a:r>
            <a:r>
              <a:rPr lang="en-US" altLang="en-US" sz="1800" b="1"/>
              <a:t>ç</a:t>
            </a:r>
            <a:r>
              <a:rPr lang="en-US" altLang="en-US" sz="1800" b="1"/>
              <a:t>ã</a:t>
            </a:r>
            <a:r>
              <a:rPr lang="en-US" altLang="pt-BR" sz="1800" b="1"/>
              <a:t>o por Servi</a:t>
            </a:r>
            <a:r>
              <a:rPr lang="en-US" altLang="en-US" sz="1800" b="1"/>
              <a:t>ç</a:t>
            </a:r>
            <a:r>
              <a:rPr lang="en-US" altLang="pt-BR" sz="1800" b="1"/>
              <a:t>os</a:t>
            </a:r>
            <a:endParaRPr lang="en-US" altLang="pt-BR" sz="1800" b="1"/>
          </a:p>
          <a:p>
            <a:pPr algn="just">
              <a:buFont typeface="Arial" panose="020B0604020202020204" pitchFamily="34" charset="0"/>
            </a:pPr>
            <a:r>
              <a:rPr lang="en-US" altLang="pt-BR" sz="1800"/>
              <a:t>Cada servi</a:t>
            </a:r>
            <a:r>
              <a:rPr lang="en-US" altLang="en-US" sz="1800"/>
              <a:t>ç</a:t>
            </a:r>
            <a:r>
              <a:rPr lang="en-US" altLang="pt-BR" sz="1800"/>
              <a:t>o </a:t>
            </a:r>
            <a:r>
              <a:rPr lang="en-US" altLang="en-US" sz="1800"/>
              <a:t>é</a:t>
            </a:r>
            <a:r>
              <a:rPr lang="en-US" altLang="pt-BR" sz="1800"/>
              <a:t> uma unidade funcional autônoma.</a:t>
            </a:r>
            <a:endParaRPr lang="en-US" altLang="pt-BR" sz="1800"/>
          </a:p>
          <a:p>
            <a:pPr algn="just">
              <a:buFont typeface="Arial" panose="020B0604020202020204" pitchFamily="34" charset="0"/>
            </a:pPr>
            <a:r>
              <a:rPr lang="en-US" altLang="pt-BR" sz="1800" b="1"/>
              <a:t>Exemplo</a:t>
            </a:r>
            <a:r>
              <a:rPr lang="en-US" altLang="pt-BR" sz="1800"/>
              <a:t>: Um sistema de e-commerce pode ter servi</a:t>
            </a:r>
            <a:r>
              <a:rPr lang="en-US" altLang="en-US" sz="1800"/>
              <a:t>ç</a:t>
            </a:r>
            <a:r>
              <a:rPr lang="en-US" altLang="pt-BR" sz="1800"/>
              <a:t>os como: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Usu</a:t>
            </a:r>
            <a:r>
              <a:rPr lang="en-US" altLang="en-US" sz="1800" b="1"/>
              <a:t>á</a:t>
            </a:r>
            <a:r>
              <a:rPr lang="en-US" altLang="pt-BR" sz="1800" b="1"/>
              <a:t>rios</a:t>
            </a:r>
            <a:r>
              <a:rPr lang="en-US" altLang="pt-BR" sz="1800"/>
              <a:t>: Gerencia autentica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 perfis.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Cat</a:t>
            </a:r>
            <a:r>
              <a:rPr lang="en-US" altLang="en-US" sz="1800" b="1"/>
              <a:t>á</a:t>
            </a:r>
            <a:r>
              <a:rPr lang="en-US" altLang="pt-BR" sz="1800" b="1"/>
              <a:t>logo</a:t>
            </a:r>
            <a:r>
              <a:rPr lang="en-US" altLang="pt-BR" sz="1800"/>
              <a:t>: Gerencia produtos e estoque.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Pagamentos</a:t>
            </a:r>
            <a:r>
              <a:rPr lang="en-US" altLang="pt-BR" sz="1800"/>
              <a:t>: Processa transa</a:t>
            </a:r>
            <a:r>
              <a:rPr lang="en-US" altLang="en-US" sz="1800"/>
              <a:t>çõ</a:t>
            </a:r>
            <a:r>
              <a:rPr lang="en-US" altLang="pt-BR" sz="1800"/>
              <a:t>es financeiras.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Pedidos</a:t>
            </a:r>
            <a:r>
              <a:rPr lang="en-US" altLang="pt-BR" sz="1800"/>
              <a:t>: Coordena a cria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 rastreamento de pedidos.</a:t>
            </a:r>
            <a:endParaRPr lang="en-US" altLang="pt-BR" sz="1800"/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pt-BR" sz="1800" b="1"/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pt-BR" sz="1800" b="1"/>
              <a:t>2.2 Descentraliza</a:t>
            </a:r>
            <a:r>
              <a:rPr lang="en-US" altLang="en-US" sz="1800" b="1"/>
              <a:t>ç</a:t>
            </a:r>
            <a:r>
              <a:rPr lang="en-US" altLang="en-US" sz="1800" b="1"/>
              <a:t>ã</a:t>
            </a:r>
            <a:r>
              <a:rPr lang="en-US" altLang="pt-BR" sz="1800" b="1"/>
              <a:t>o</a:t>
            </a:r>
            <a:endParaRPr lang="en-US" altLang="pt-BR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Banco de Dados por Servi</a:t>
            </a:r>
            <a:r>
              <a:rPr lang="en-US" altLang="en-US" sz="1800" b="1"/>
              <a:t>ç</a:t>
            </a:r>
            <a:r>
              <a:rPr lang="en-US" altLang="pt-BR" sz="1800" b="1"/>
              <a:t>o</a:t>
            </a:r>
            <a:r>
              <a:rPr lang="en-US" altLang="pt-BR" sz="1800"/>
              <a:t>: Cada microsservi</a:t>
            </a:r>
            <a:r>
              <a:rPr lang="en-US" altLang="en-US" sz="1800"/>
              <a:t>ç</a:t>
            </a:r>
            <a:r>
              <a:rPr lang="en-US" altLang="pt-BR" sz="1800"/>
              <a:t>o gerencia seu pr</a:t>
            </a:r>
            <a:r>
              <a:rPr lang="en-US" altLang="en-US" sz="1800"/>
              <a:t>ó</a:t>
            </a:r>
            <a:r>
              <a:rPr lang="en-US" altLang="pt-BR" sz="1800"/>
              <a:t>prio armazenamento (ex: MongoDB para "Usu</a:t>
            </a:r>
            <a:r>
              <a:rPr lang="en-US" altLang="en-US" sz="1800"/>
              <a:t>á</a:t>
            </a:r>
            <a:r>
              <a:rPr lang="en-US" altLang="pt-BR" sz="1800"/>
              <a:t>rios", PostgreSQL para "Pedidos").</a:t>
            </a:r>
            <a:endParaRPr lang="en-US" altLang="pt-BR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Autonomia Tecnol</a:t>
            </a:r>
            <a:r>
              <a:rPr lang="en-US" altLang="en-US" sz="1800" b="1"/>
              <a:t>ó</a:t>
            </a:r>
            <a:r>
              <a:rPr lang="en-US" altLang="pt-BR" sz="1800" b="1"/>
              <a:t>gica</a:t>
            </a:r>
            <a:r>
              <a:rPr lang="en-US" altLang="pt-BR" sz="1800"/>
              <a:t>: Cada servi</a:t>
            </a:r>
            <a:r>
              <a:rPr lang="en-US" altLang="en-US" sz="1800"/>
              <a:t>ç</a:t>
            </a:r>
            <a:r>
              <a:rPr lang="en-US" altLang="pt-BR" sz="1800"/>
              <a:t>o pode usar linguagens, frameworks e ferramentas diferentes (ex: Node.js para "Usu</a:t>
            </a:r>
            <a:r>
              <a:rPr lang="en-US" altLang="en-US" sz="1800"/>
              <a:t>á</a:t>
            </a:r>
            <a:r>
              <a:rPr lang="en-US" altLang="pt-BR" sz="1800"/>
              <a:t>rios", Python para "Recomenda</a:t>
            </a:r>
            <a:r>
              <a:rPr lang="en-US" altLang="en-US" sz="1800"/>
              <a:t>çõ</a:t>
            </a:r>
            <a:r>
              <a:rPr lang="en-US" altLang="pt-BR" sz="1800"/>
              <a:t>es").</a:t>
            </a:r>
            <a:endParaRPr lang="en-US" altLang="pt-BR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 Caracter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sticas Principais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pt-BR" b="1"/>
              <a:t>2.3 Comunica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Leve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APIs REST/HTTP</a:t>
            </a:r>
            <a:r>
              <a:rPr lang="en-US" altLang="pt-BR"/>
              <a:t>: Para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</a:t>
            </a:r>
            <a:r>
              <a:rPr lang="en-US" altLang="en-US"/>
              <a:t>í</a:t>
            </a:r>
            <a:r>
              <a:rPr lang="en-US" altLang="pt-BR"/>
              <a:t>ncrona.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Mensage</a:t>
            </a:r>
            <a:r>
              <a:rPr lang="pt-BR" altLang="en-US" b="1"/>
              <a:t>ns</a:t>
            </a:r>
            <a:r>
              <a:rPr lang="en-US" altLang="pt-BR" b="1"/>
              <a:t> (RabbitMQ, Kafka)</a:t>
            </a:r>
            <a:r>
              <a:rPr lang="en-US" altLang="pt-BR"/>
              <a:t>: Para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ass</a:t>
            </a:r>
            <a:r>
              <a:rPr lang="en-US" altLang="en-US"/>
              <a:t>í</a:t>
            </a:r>
            <a:r>
              <a:rPr lang="en-US" altLang="pt-BR"/>
              <a:t>ncrona via eventos.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gRPC</a:t>
            </a:r>
            <a:r>
              <a:rPr lang="en-US" altLang="pt-BR"/>
              <a:t>: Para alta performance em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interna.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2.4 Escalabilidade Horizontal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Escale apenas os servi</a:t>
            </a:r>
            <a:r>
              <a:rPr lang="en-US" altLang="en-US"/>
              <a:t>ç</a:t>
            </a:r>
            <a:r>
              <a:rPr lang="en-US" altLang="pt-BR"/>
              <a:t>os sob demanda (ex: escalar o servi</a:t>
            </a:r>
            <a:r>
              <a:rPr lang="en-US" altLang="en-US"/>
              <a:t>ç</a:t>
            </a:r>
            <a:r>
              <a:rPr lang="en-US" altLang="pt-BR"/>
              <a:t>o de "Pagamentos" durante picos de compras).</a:t>
            </a:r>
            <a:endParaRPr lang="en-US" alt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3. Benef</a:t>
            </a:r>
            <a:r>
              <a:rPr lang="en-US" altLang="en-US"/>
              <a:t>í</a:t>
            </a:r>
            <a:r>
              <a:rPr lang="en-US" altLang="pt-BR"/>
              <a:t>cios da Arquitetura de Microsservi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Flexibilidade Tecnol</a:t>
            </a:r>
            <a:r>
              <a:rPr lang="en-US" altLang="en-US" b="1"/>
              <a:t>ó</a:t>
            </a:r>
            <a:r>
              <a:rPr lang="en-US" altLang="pt-BR" b="1"/>
              <a:t>gica</a:t>
            </a:r>
            <a:r>
              <a:rPr lang="en-US" altLang="pt-BR"/>
              <a:t>: Equipes podem escolher a melhor stack para cada servi</a:t>
            </a:r>
            <a:r>
              <a:rPr lang="en-US" altLang="en-US"/>
              <a:t>ç</a:t>
            </a:r>
            <a:r>
              <a:rPr lang="en-US" altLang="pt-BR"/>
              <a:t>o.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Resili</a:t>
            </a:r>
            <a:r>
              <a:rPr lang="en-US" altLang="en-US" b="1"/>
              <a:t>ê</a:t>
            </a:r>
            <a:r>
              <a:rPr lang="en-US" altLang="pt-BR" b="1"/>
              <a:t>ncia</a:t>
            </a:r>
            <a:r>
              <a:rPr lang="en-US" altLang="pt-BR"/>
              <a:t>: Falhas em um servi</a:t>
            </a:r>
            <a:r>
              <a:rPr lang="en-US" altLang="en-US"/>
              <a:t>ç</a:t>
            </a:r>
            <a:r>
              <a:rPr lang="en-US" altLang="pt-BR"/>
              <a:t>o n</a:t>
            </a:r>
            <a:r>
              <a:rPr lang="en-US" altLang="en-US"/>
              <a:t>ã</a:t>
            </a:r>
            <a:r>
              <a:rPr lang="en-US" altLang="pt-BR"/>
              <a:t>o afetam o sistema inteiro.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Deploy Cont</a:t>
            </a:r>
            <a:r>
              <a:rPr lang="en-US" altLang="en-US" b="1"/>
              <a:t>í</a:t>
            </a:r>
            <a:r>
              <a:rPr lang="en-US" altLang="pt-BR" b="1"/>
              <a:t>nuo</a:t>
            </a:r>
            <a:r>
              <a:rPr lang="en-US" altLang="pt-BR"/>
              <a:t>: Atualize um servi</a:t>
            </a:r>
            <a:r>
              <a:rPr lang="en-US" altLang="en-US"/>
              <a:t>ç</a:t>
            </a:r>
            <a:r>
              <a:rPr lang="en-US" altLang="pt-BR"/>
              <a:t>o sem reimplantar toda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Escalabilidade Granular</a:t>
            </a:r>
            <a:r>
              <a:rPr lang="en-US" altLang="pt-BR"/>
              <a:t>: Escale servi</a:t>
            </a:r>
            <a:r>
              <a:rPr lang="en-US" altLang="en-US"/>
              <a:t>ç</a:t>
            </a:r>
            <a:r>
              <a:rPr lang="en-US" altLang="pt-BR"/>
              <a:t>os cr</a:t>
            </a:r>
            <a:r>
              <a:rPr lang="en-US" altLang="en-US"/>
              <a:t>í</a:t>
            </a:r>
            <a:r>
              <a:rPr lang="en-US" altLang="pt-BR"/>
              <a:t>ticos independentemente.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b="1"/>
              <a:t>Velocidade de Desenvolvimento</a:t>
            </a:r>
            <a:r>
              <a:rPr lang="en-US" altLang="pt-BR"/>
              <a:t>: Times podem trabalhar em paralelo em servi</a:t>
            </a:r>
            <a:r>
              <a:rPr lang="en-US" altLang="en-US"/>
              <a:t>ç</a:t>
            </a:r>
            <a:r>
              <a:rPr lang="en-US" altLang="pt-BR"/>
              <a:t>os diferentes.</a:t>
            </a:r>
            <a:endParaRPr lang="en-US" alt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4. Desafios da Arquitetura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Complexidade Operacional</a:t>
            </a:r>
            <a:r>
              <a:rPr lang="en-US" altLang="pt-BR"/>
              <a:t>: Gerenciar m</a:t>
            </a:r>
            <a:r>
              <a:rPr lang="en-US" altLang="en-US"/>
              <a:t>ú</a:t>
            </a:r>
            <a:r>
              <a:rPr lang="en-US" altLang="pt-BR"/>
              <a:t>ltiplos servi</a:t>
            </a:r>
            <a:r>
              <a:rPr lang="en-US" altLang="en-US"/>
              <a:t>ç</a:t>
            </a:r>
            <a:r>
              <a:rPr lang="en-US" altLang="pt-BR"/>
              <a:t>os, redes e containers.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Comunica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entre Servi</a:t>
            </a:r>
            <a:r>
              <a:rPr lang="en-US" altLang="en-US" b="1"/>
              <a:t>ç</a:t>
            </a:r>
            <a:r>
              <a:rPr lang="en-US" altLang="pt-BR" b="1"/>
              <a:t>os</a:t>
            </a:r>
            <a:r>
              <a:rPr lang="en-US" altLang="pt-BR"/>
              <a:t>: Lat</a:t>
            </a:r>
            <a:r>
              <a:rPr lang="en-US" altLang="en-US"/>
              <a:t>ê</a:t>
            </a:r>
            <a:r>
              <a:rPr lang="en-US" altLang="pt-BR"/>
              <a:t>ncia e falhas na rede.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Consist</a:t>
            </a:r>
            <a:r>
              <a:rPr lang="en-US" altLang="en-US" b="1"/>
              <a:t>ê</a:t>
            </a:r>
            <a:r>
              <a:rPr lang="en-US" altLang="pt-BR" b="1"/>
              <a:t>ncia de Dados</a:t>
            </a:r>
            <a:r>
              <a:rPr lang="en-US" altLang="pt-BR"/>
              <a:t>: Dificuldade em transa</a:t>
            </a:r>
            <a:r>
              <a:rPr lang="en-US" altLang="en-US"/>
              <a:t>çõ</a:t>
            </a:r>
            <a:r>
              <a:rPr lang="en-US" altLang="pt-BR"/>
              <a:t>es distribu</a:t>
            </a:r>
            <a:r>
              <a:rPr lang="en-US" altLang="en-US"/>
              <a:t>í</a:t>
            </a:r>
            <a:r>
              <a:rPr lang="en-US" altLang="pt-BR"/>
              <a:t>das.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Monitoramento</a:t>
            </a:r>
            <a:r>
              <a:rPr lang="en-US" altLang="pt-BR"/>
              <a:t>: Rastrear logs, m</a:t>
            </a:r>
            <a:r>
              <a:rPr lang="en-US" altLang="en-US"/>
              <a:t>é</a:t>
            </a:r>
            <a:r>
              <a:rPr lang="en-US" altLang="pt-BR"/>
              <a:t>tricas e desempenho em v</a:t>
            </a:r>
            <a:r>
              <a:rPr lang="en-US" altLang="en-US"/>
              <a:t>á</a:t>
            </a:r>
            <a:r>
              <a:rPr lang="en-US" altLang="pt-BR"/>
              <a:t>rios servi</a:t>
            </a:r>
            <a:r>
              <a:rPr lang="en-US" altLang="en-US"/>
              <a:t>ç</a:t>
            </a:r>
            <a:r>
              <a:rPr lang="en-US" altLang="pt-BR"/>
              <a:t>os.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Seguran</a:t>
            </a:r>
            <a:r>
              <a:rPr lang="en-US" altLang="en-US" b="1"/>
              <a:t>ç</a:t>
            </a:r>
            <a:r>
              <a:rPr lang="en-US" altLang="pt-BR" b="1"/>
              <a:t>a</a:t>
            </a:r>
            <a:r>
              <a:rPr lang="en-US" altLang="pt-BR"/>
              <a:t>: Gerenciar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entre servi</a:t>
            </a:r>
            <a:r>
              <a:rPr lang="en-US" altLang="en-US"/>
              <a:t>ç</a:t>
            </a:r>
            <a:r>
              <a:rPr lang="en-US" altLang="pt-BR"/>
              <a:t>os.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5. Padr</a:t>
            </a:r>
            <a:r>
              <a:rPr lang="en-US" altLang="en-US"/>
              <a:t>õ</a:t>
            </a:r>
            <a:r>
              <a:rPr lang="en-US" altLang="pt-BR"/>
              <a:t>es Arquiteturais Comuns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 b="1"/>
              <a:t>5.1 API Gateway</a:t>
            </a:r>
            <a:endParaRPr lang="en-US" altLang="pt-BR" b="1"/>
          </a:p>
          <a:p>
            <a:pPr algn="just"/>
            <a:r>
              <a:rPr lang="en-US" altLang="pt-BR" b="1"/>
              <a:t>Fun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</a:t>
            </a:r>
            <a:r>
              <a:rPr lang="en-US" altLang="pt-BR"/>
              <a:t>: Centraliza o acesso aos microsservi</a:t>
            </a:r>
            <a:r>
              <a:rPr lang="en-US" altLang="en-US"/>
              <a:t>ç</a:t>
            </a:r>
            <a:r>
              <a:rPr lang="en-US" altLang="pt-BR"/>
              <a:t>os, lidando com roteamento,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rate limiting.</a:t>
            </a:r>
            <a:endParaRPr lang="en-US" altLang="pt-BR"/>
          </a:p>
          <a:p>
            <a:pPr algn="just"/>
            <a:r>
              <a:rPr lang="en-US" altLang="pt-BR" b="1"/>
              <a:t>Exemplo em Node.js</a:t>
            </a:r>
            <a:r>
              <a:rPr lang="en-US" altLang="pt-BR"/>
              <a:t>:</a:t>
            </a:r>
            <a:endParaRPr lang="en-US" alt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320" y="3601085"/>
            <a:ext cx="8087360" cy="32569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altLang="pt-BR" b="1"/>
              <a:t>5.2 Service Discovery: Registro e Descoberta de Servi</a:t>
            </a:r>
            <a:r>
              <a:rPr lang="en-US" altLang="en-US" b="1"/>
              <a:t>ç</a:t>
            </a:r>
            <a:r>
              <a:rPr lang="en-US" altLang="pt-BR" b="1"/>
              <a:t>os</a:t>
            </a:r>
            <a:endParaRPr lang="en-US" altLang="pt-BR"/>
          </a:p>
          <a:p>
            <a:pPr algn="just"/>
            <a:r>
              <a:rPr lang="en-US" altLang="pt-BR"/>
              <a:t>Service Discovery </a:t>
            </a:r>
            <a:r>
              <a:rPr lang="en-US" altLang="en-US"/>
              <a:t>é</a:t>
            </a:r>
            <a:r>
              <a:rPr lang="en-US" altLang="pt-BR"/>
              <a:t> um padr</a:t>
            </a:r>
            <a:r>
              <a:rPr lang="en-US" altLang="en-US"/>
              <a:t>ã</a:t>
            </a:r>
            <a:r>
              <a:rPr lang="en-US" altLang="pt-BR"/>
              <a:t>o de arquitetura que permite que servi</a:t>
            </a:r>
            <a:r>
              <a:rPr lang="en-US" altLang="en-US"/>
              <a:t>ç</a:t>
            </a:r>
            <a:r>
              <a:rPr lang="en-US" altLang="pt-BR"/>
              <a:t>os em um ambiente din</a:t>
            </a:r>
            <a:r>
              <a:rPr lang="en-US" altLang="en-US"/>
              <a:t>â</a:t>
            </a:r>
            <a:r>
              <a:rPr lang="en-US" altLang="pt-BR"/>
              <a:t>mico e distribu</a:t>
            </a:r>
            <a:r>
              <a:rPr lang="en-US" altLang="en-US"/>
              <a:t>í</a:t>
            </a:r>
            <a:r>
              <a:rPr lang="en-US" altLang="pt-BR"/>
              <a:t>do possam se localizar e se comunicar automaticamente, sem configura</a:t>
            </a:r>
            <a:r>
              <a:rPr lang="en-US" altLang="en-US"/>
              <a:t>çõ</a:t>
            </a:r>
            <a:r>
              <a:rPr lang="en-US" altLang="pt-BR"/>
              <a:t>es est</a:t>
            </a:r>
            <a:r>
              <a:rPr lang="en-US" altLang="en-US"/>
              <a:t>á</a:t>
            </a:r>
            <a:r>
              <a:rPr lang="en-US" altLang="pt-BR"/>
              <a:t>ticas de endere</a:t>
            </a:r>
            <a:r>
              <a:rPr lang="en-US" altLang="en-US"/>
              <a:t>ç</a:t>
            </a:r>
            <a:r>
              <a:rPr lang="en-US" altLang="pt-BR"/>
              <a:t>os.</a:t>
            </a:r>
            <a:endParaRPr lang="en-US" altLang="pt-BR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b="1"/>
              <a:t>Problemas que Resolve:</a:t>
            </a:r>
            <a:endParaRPr lang="en-US" altLang="pt-BR" b="1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Endere</a:t>
            </a:r>
            <a:r>
              <a:rPr lang="en-US" altLang="en-US"/>
              <a:t>ç</a:t>
            </a:r>
            <a:r>
              <a:rPr lang="en-US" altLang="pt-BR"/>
              <a:t>os IP e portas mut</a:t>
            </a:r>
            <a:r>
              <a:rPr lang="en-US" altLang="en-US"/>
              <a:t>á</a:t>
            </a:r>
            <a:r>
              <a:rPr lang="en-US" altLang="pt-BR"/>
              <a:t>veis em infraestruturas em nuvem</a:t>
            </a:r>
            <a:endParaRPr lang="en-US" altLang="pt-BR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Escalabilidade horizontal de 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Balanceamento de carga din</a:t>
            </a:r>
            <a:r>
              <a:rPr lang="en-US" altLang="en-US"/>
              <a:t>â</a:t>
            </a:r>
            <a:r>
              <a:rPr lang="en-US" altLang="pt-BR"/>
              <a:t>mico</a:t>
            </a:r>
            <a:endParaRPr lang="en-US" altLang="pt-BR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Toler</a:t>
            </a:r>
            <a:r>
              <a:rPr lang="en-US" altLang="en-US"/>
              <a:t>â</a:t>
            </a:r>
            <a:r>
              <a:rPr lang="en-US" altLang="pt-BR"/>
              <a:t>ncia a falhas e recupera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autom</a:t>
            </a:r>
            <a:r>
              <a:rPr lang="en-US" altLang="en-US"/>
              <a:t>á</a:t>
            </a:r>
            <a:r>
              <a:rPr lang="en-US" altLang="pt-BR"/>
              <a:t>tica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5000"/>
          </a:bodyPr>
          <a:p>
            <a:r>
              <a:rPr lang="en-US" altLang="pt-BR" b="1">
                <a:sym typeface="+mn-ea"/>
              </a:rPr>
              <a:t>5.2 Service Discovery: Registro e Descoberta de Servi</a:t>
            </a:r>
            <a:r>
              <a:rPr lang="en-US" altLang="en-US" b="1">
                <a:sym typeface="+mn-ea"/>
              </a:rPr>
              <a:t>ç</a:t>
            </a:r>
            <a:r>
              <a:rPr lang="en-US" altLang="pt-BR" b="1">
                <a:sym typeface="+mn-ea"/>
              </a:rPr>
              <a:t>os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b="1"/>
              <a:t>Ferramentas de Service Discovery:</a:t>
            </a:r>
            <a:endParaRPr lang="en-US" altLang="pt-BR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pt-BR" b="1"/>
              <a:t>Consul (HashiCorp)</a:t>
            </a:r>
            <a:endParaRPr lang="en-US" altLang="pt-BR" b="1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Multiplataforma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Suporta health checks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Criptografia de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Integra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com Kubernetes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Arquitetura distribu</a:t>
            </a:r>
            <a:r>
              <a:rPr lang="en-US" altLang="en-US"/>
              <a:t>í</a:t>
            </a:r>
            <a:r>
              <a:rPr lang="en-US" altLang="pt-BR"/>
              <a:t>da e tolerante a falhas</a:t>
            </a:r>
            <a:endParaRPr lang="en-US" altLang="pt-B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pt-BR" b="1"/>
              <a:t>Eureka (Netflix)</a:t>
            </a:r>
            <a:endParaRPr lang="en-US" altLang="pt-BR" b="1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Parte do Netflix OSS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Desenvolvido em Java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Foco em ambientes de microsservi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Registro e descoberta de inst</a:t>
            </a:r>
            <a:r>
              <a:rPr lang="en-US" altLang="en-US"/>
              <a:t>â</a:t>
            </a:r>
            <a:r>
              <a:rPr lang="en-US" altLang="pt-BR"/>
              <a:t>ncias</a:t>
            </a:r>
            <a:endParaRPr lang="en-US" altLang="pt-B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pt-BR"/>
              <a:t>Heartbeats para verificar disponibilidade</a:t>
            </a:r>
            <a:endParaRPr lang="en-US" alt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pt-BR" altLang="en-US" b="1"/>
              <a:t>5.3 </a:t>
            </a:r>
            <a:r>
              <a:rPr lang="en-US" altLang="pt-BR" b="1"/>
              <a:t>Circuit Breaker: Prote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contra Falhas em Sistemas Distribu</a:t>
            </a:r>
            <a:r>
              <a:rPr lang="en-US" altLang="en-US" b="1"/>
              <a:t>í</a:t>
            </a:r>
            <a:r>
              <a:rPr lang="en-US" altLang="pt-BR" b="1"/>
              <a:t>dos</a:t>
            </a:r>
            <a:endParaRPr lang="en-US" altLang="pt-BR"/>
          </a:p>
          <a:p>
            <a:pPr algn="just"/>
            <a:r>
              <a:rPr lang="en-US" altLang="pt-BR"/>
              <a:t>Circuit Breaker (disjuntor) </a:t>
            </a:r>
            <a:r>
              <a:rPr lang="en-US" altLang="en-US"/>
              <a:t>é</a:t>
            </a:r>
            <a:r>
              <a:rPr lang="en-US" altLang="pt-BR"/>
              <a:t> um padr</a:t>
            </a:r>
            <a:r>
              <a:rPr lang="en-US" altLang="en-US"/>
              <a:t>ã</a:t>
            </a:r>
            <a:r>
              <a:rPr lang="en-US" altLang="pt-BR"/>
              <a:t>o de design que previne que um sistema tente executar uma opera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que provavelmente falhar</a:t>
            </a:r>
            <a:r>
              <a:rPr lang="en-US" altLang="en-US"/>
              <a:t>á</a:t>
            </a:r>
            <a:r>
              <a:rPr lang="en-US" altLang="pt-BR"/>
              <a:t>, melhorando a estabilidade e resili</a:t>
            </a:r>
            <a:r>
              <a:rPr lang="en-US" altLang="en-US"/>
              <a:t>ê</a:t>
            </a:r>
            <a:r>
              <a:rPr lang="en-US" altLang="pt-BR"/>
              <a:t>ncia do sistema.</a:t>
            </a:r>
            <a:endParaRPr lang="en-US" altLang="pt-BR"/>
          </a:p>
          <a:p>
            <a:pPr algn="just"/>
            <a:r>
              <a:rPr lang="en-US" altLang="pt-BR" i="1"/>
              <a:t>https://www.npmjs.com/package/opossum</a:t>
            </a:r>
            <a:endParaRPr lang="en-US" altLang="pt-BR" i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Estados do Circuit Breaker:</a:t>
            </a:r>
            <a:endParaRPr lang="en-US" altLang="pt-BR"/>
          </a:p>
          <a:p>
            <a:pPr lvl="1" algn="just"/>
            <a:r>
              <a:rPr lang="en-US" altLang="pt-BR" b="1"/>
              <a:t>Fechado (Closed):</a:t>
            </a:r>
            <a:endParaRPr lang="en-US" altLang="pt-BR" b="1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Estado normal</a:t>
            </a:r>
            <a:endParaRPr lang="en-US" altLang="pt-BR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Permite chamadas ao servi</a:t>
            </a:r>
            <a:r>
              <a:rPr lang="en-US" altLang="en-US"/>
              <a:t>ç</a:t>
            </a:r>
            <a:r>
              <a:rPr lang="en-US" altLang="pt-BR"/>
              <a:t>o</a:t>
            </a:r>
            <a:endParaRPr lang="en-US" altLang="pt-BR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/>
              <a:t>Monitora falhas</a:t>
            </a:r>
            <a:endParaRPr lang="en-US" alt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 b="1">
                <a:sym typeface="+mn-ea"/>
              </a:rPr>
              <a:t>5.3 </a:t>
            </a:r>
            <a:r>
              <a:rPr lang="en-US" altLang="pt-BR" b="1">
                <a:sym typeface="+mn-ea"/>
              </a:rPr>
              <a:t>Circuit Breaker: Prote</a:t>
            </a:r>
            <a:r>
              <a:rPr lang="en-US" altLang="en-US" b="1">
                <a:sym typeface="+mn-ea"/>
              </a:rPr>
              <a:t>çã</a:t>
            </a:r>
            <a:r>
              <a:rPr lang="en-US" altLang="pt-BR" b="1">
                <a:sym typeface="+mn-ea"/>
              </a:rPr>
              <a:t>o contra Falhas em Sistemas Distribu</a:t>
            </a:r>
            <a:r>
              <a:rPr lang="en-US" altLang="en-US" b="1">
                <a:sym typeface="+mn-ea"/>
              </a:rPr>
              <a:t>í</a:t>
            </a:r>
            <a:r>
              <a:rPr lang="en-US" altLang="pt-BR" b="1">
                <a:sym typeface="+mn-ea"/>
              </a:rPr>
              <a:t>dos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Estados do Circuit Breaker:</a:t>
            </a:r>
            <a:endParaRPr lang="en-US" altLang="pt-BR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pt-BR" b="1"/>
              <a:t>Aberto (Open):</a:t>
            </a:r>
            <a:endParaRPr lang="en-US" altLang="pt-BR" b="1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Bloqueia todas as chamadas</a:t>
            </a:r>
            <a:endParaRPr lang="en-US" altLang="pt-BR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Previne sobrecarga do servi</a:t>
            </a:r>
            <a:r>
              <a:rPr lang="en-US" altLang="en-US"/>
              <a:t>ç</a:t>
            </a:r>
            <a:r>
              <a:rPr lang="en-US" altLang="pt-BR"/>
              <a:t>o</a:t>
            </a:r>
            <a:endParaRPr lang="en-US" altLang="pt-BR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Permite recupera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pt-BR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pt-BR" b="1"/>
              <a:t>Meio-Aberto (Half-Open):</a:t>
            </a:r>
            <a:endParaRPr lang="en-US" altLang="pt-BR" b="1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Permite chamadas de teste</a:t>
            </a:r>
            <a:endParaRPr lang="en-US" altLang="pt-BR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Verifica se o servi</a:t>
            </a:r>
            <a:r>
              <a:rPr lang="en-US" altLang="en-US"/>
              <a:t>ç</a:t>
            </a:r>
            <a:r>
              <a:rPr lang="en-US" altLang="pt-BR"/>
              <a:t>o est</a:t>
            </a:r>
            <a:r>
              <a:rPr lang="en-US" altLang="en-US"/>
              <a:t>á</a:t>
            </a:r>
            <a:r>
              <a:rPr lang="en-US" altLang="pt-BR"/>
              <a:t> recuperado</a:t>
            </a:r>
            <a:endParaRPr lang="en-US" altLang="pt-BR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pt-BR"/>
              <a:t>Transi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para fechado ou aberto</a:t>
            </a:r>
            <a:endParaRPr lang="en-US" alt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0970" y="1825625"/>
            <a:ext cx="89877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pt-BR" altLang="en-US" sz="3200" b="1"/>
              <a:t>5.4 </a:t>
            </a:r>
            <a:r>
              <a:rPr lang="en-US" altLang="pt-BR" sz="3200" b="1"/>
              <a:t>Saga Pattern: Gerenciamento de Transa</a:t>
            </a:r>
            <a:r>
              <a:rPr lang="en-US" altLang="en-US" sz="3200" b="1"/>
              <a:t>çõ</a:t>
            </a:r>
            <a:r>
              <a:rPr lang="en-US" altLang="pt-BR" sz="3200" b="1"/>
              <a:t>es Distribu</a:t>
            </a:r>
            <a:r>
              <a:rPr lang="en-US" altLang="en-US" sz="3200" b="1"/>
              <a:t>í</a:t>
            </a:r>
            <a:r>
              <a:rPr lang="en-US" altLang="pt-BR" sz="3200" b="1"/>
              <a:t>das</a:t>
            </a:r>
            <a:endParaRPr lang="en-US" altLang="pt-BR" sz="3200"/>
          </a:p>
          <a:p>
            <a:pPr algn="just"/>
            <a:r>
              <a:rPr lang="en-US" altLang="pt-BR" sz="3200"/>
              <a:t>O Padr</a:t>
            </a:r>
            <a:r>
              <a:rPr lang="en-US" altLang="en-US" sz="3200"/>
              <a:t>ã</a:t>
            </a:r>
            <a:r>
              <a:rPr lang="en-US" altLang="pt-BR" sz="3200"/>
              <a:t>o Saga </a:t>
            </a:r>
            <a:r>
              <a:rPr lang="en-US" altLang="en-US" sz="3200"/>
              <a:t>é</a:t>
            </a:r>
            <a:r>
              <a:rPr lang="en-US" altLang="pt-BR" sz="3200"/>
              <a:t> uma sequ</a:t>
            </a:r>
            <a:r>
              <a:rPr lang="en-US" altLang="en-US" sz="3200"/>
              <a:t>ê</a:t>
            </a:r>
            <a:r>
              <a:rPr lang="en-US" altLang="pt-BR" sz="3200"/>
              <a:t>ncia de transa</a:t>
            </a:r>
            <a:r>
              <a:rPr lang="en-US" altLang="en-US" sz="3200"/>
              <a:t>çõ</a:t>
            </a:r>
            <a:r>
              <a:rPr lang="en-US" altLang="pt-BR" sz="3200"/>
              <a:t>es locais onde cada transa</a:t>
            </a:r>
            <a:r>
              <a:rPr lang="en-US" altLang="en-US" sz="3200"/>
              <a:t>ç</a:t>
            </a:r>
            <a:r>
              <a:rPr lang="en-US" altLang="en-US" sz="3200"/>
              <a:t>ã</a:t>
            </a:r>
            <a:r>
              <a:rPr lang="en-US" altLang="pt-BR" sz="3200"/>
              <a:t>o atualiza dados em um </a:t>
            </a:r>
            <a:r>
              <a:rPr lang="en-US" altLang="en-US" sz="3200"/>
              <a:t>ú</a:t>
            </a:r>
            <a:r>
              <a:rPr lang="en-US" altLang="pt-BR" sz="3200"/>
              <a:t>nico servi</a:t>
            </a:r>
            <a:r>
              <a:rPr lang="en-US" altLang="en-US" sz="3200"/>
              <a:t>ç</a:t>
            </a:r>
            <a:r>
              <a:rPr lang="en-US" altLang="pt-BR" sz="3200"/>
              <a:t>o. Se uma etapa falhar, o Saga executa transa</a:t>
            </a:r>
            <a:r>
              <a:rPr lang="en-US" altLang="en-US" sz="3200"/>
              <a:t>çõ</a:t>
            </a:r>
            <a:r>
              <a:rPr lang="en-US" altLang="pt-BR" sz="3200"/>
              <a:t>es compensat</a:t>
            </a:r>
            <a:r>
              <a:rPr lang="en-US" altLang="en-US" sz="3200"/>
              <a:t>ó</a:t>
            </a:r>
            <a:r>
              <a:rPr lang="en-US" altLang="pt-BR" sz="3200"/>
              <a:t>rias para reverter as mudan</a:t>
            </a:r>
            <a:r>
              <a:rPr lang="en-US" altLang="en-US" sz="3200"/>
              <a:t>ç</a:t>
            </a:r>
            <a:r>
              <a:rPr lang="en-US" altLang="pt-BR" sz="3200"/>
              <a:t>as.</a:t>
            </a:r>
            <a:endParaRPr lang="en-US" altLang="pt-BR" sz="32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sz="3200"/>
              <a:t>Tipos de Implementa</a:t>
            </a:r>
            <a:r>
              <a:rPr lang="en-US" altLang="en-US" sz="3200"/>
              <a:t>ç</a:t>
            </a:r>
            <a:r>
              <a:rPr lang="en-US" altLang="en-US" sz="3200"/>
              <a:t>ã</a:t>
            </a:r>
            <a:r>
              <a:rPr lang="en-US" altLang="pt-BR" sz="3200"/>
              <a:t>o:</a:t>
            </a:r>
            <a:endParaRPr lang="en-US" altLang="pt-BR" sz="320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pt-BR" sz="2800" b="1"/>
              <a:t>Orquestra</a:t>
            </a:r>
            <a:r>
              <a:rPr lang="en-US" altLang="en-US" sz="2800" b="1"/>
              <a:t>ç</a:t>
            </a:r>
            <a:r>
              <a:rPr lang="en-US" altLang="en-US" sz="2800" b="1"/>
              <a:t>ã</a:t>
            </a:r>
            <a:r>
              <a:rPr lang="en-US" altLang="pt-BR" sz="2800" b="1"/>
              <a:t>o (Orchestration)</a:t>
            </a:r>
            <a:endParaRPr lang="en-US" altLang="pt-BR" sz="2800" b="1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 sz="2400"/>
              <a:t>Um servi</a:t>
            </a:r>
            <a:r>
              <a:rPr lang="en-US" altLang="en-US" sz="2400"/>
              <a:t>ç</a:t>
            </a:r>
            <a:r>
              <a:rPr lang="en-US" altLang="pt-BR" sz="2400"/>
              <a:t>o coordenador gerencia as etapas</a:t>
            </a:r>
            <a:endParaRPr lang="en-US" altLang="pt-BR" sz="240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 sz="2400"/>
              <a:t>Envia comandos para outros servi</a:t>
            </a:r>
            <a:r>
              <a:rPr lang="en-US" altLang="en-US" sz="2400"/>
              <a:t>ç</a:t>
            </a:r>
            <a:r>
              <a:rPr lang="en-US" altLang="pt-BR" sz="2400"/>
              <a:t>os</a:t>
            </a:r>
            <a:endParaRPr lang="en-US" altLang="pt-BR" sz="240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altLang="pt-BR" sz="2400"/>
              <a:t>Controla fluxo e tratamento de erros</a:t>
            </a:r>
            <a:endParaRPr lang="en-US" altLang="pt-BR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8800" y="1825625"/>
            <a:ext cx="56127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 b="1">
                <a:sym typeface="+mn-ea"/>
              </a:rPr>
              <a:t>5.4 </a:t>
            </a:r>
            <a:r>
              <a:rPr lang="en-US" altLang="pt-BR" b="1">
                <a:sym typeface="+mn-ea"/>
              </a:rPr>
              <a:t>Saga Pattern: Gerenciamento de Transa</a:t>
            </a:r>
            <a:r>
              <a:rPr lang="en-US" altLang="en-US" b="1">
                <a:sym typeface="+mn-ea"/>
              </a:rPr>
              <a:t>çõ</a:t>
            </a:r>
            <a:r>
              <a:rPr lang="en-US" altLang="pt-BR" b="1">
                <a:sym typeface="+mn-ea"/>
              </a:rPr>
              <a:t>es Distribu</a:t>
            </a:r>
            <a:r>
              <a:rPr lang="en-US" altLang="en-US" b="1">
                <a:sym typeface="+mn-ea"/>
              </a:rPr>
              <a:t>í</a:t>
            </a:r>
            <a:r>
              <a:rPr lang="en-US" altLang="pt-BR" b="1">
                <a:sym typeface="+mn-ea"/>
              </a:rPr>
              <a:t>das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Tipos de Implementa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o: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 b="1"/>
              <a:t>Coreografia (Choreography)</a:t>
            </a:r>
            <a:endParaRPr lang="en-US" altLang="pt-BR" b="1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os se comunicam diretamente</a:t>
            </a:r>
            <a:endParaRPr lang="en-US" altLang="pt-BR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pt-BR"/>
              <a:t>Cada servi</a:t>
            </a:r>
            <a:r>
              <a:rPr lang="en-US" altLang="en-US"/>
              <a:t>ç</a:t>
            </a:r>
            <a:r>
              <a:rPr lang="en-US" altLang="pt-BR"/>
              <a:t>o sabe o que fazer</a:t>
            </a:r>
            <a:endParaRPr lang="en-US" altLang="pt-BR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pt-BR"/>
              <a:t>Mais descentralizado</a:t>
            </a:r>
            <a:endParaRPr lang="en-US" altLang="pt-B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5.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Arquiteturais Comuns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5335" y="1825625"/>
            <a:ext cx="77190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6</a:t>
            </a:r>
            <a:r>
              <a:rPr lang="en-US" altLang="pt-BR"/>
              <a:t>. Ferramentas para Microsservi</a:t>
            </a:r>
            <a:r>
              <a:rPr lang="en-US" altLang="en-US"/>
              <a:t>ç</a:t>
            </a:r>
            <a:r>
              <a:rPr lang="en-US" altLang="pt-BR"/>
              <a:t>os em JavaScript</a:t>
            </a:r>
            <a:endParaRPr lang="en-US" altLang="pt-BR"/>
          </a:p>
        </p:txBody>
      </p:sp>
      <p:graphicFrame>
        <p:nvGraphicFramePr>
          <p:cNvPr id="4" name="Espaço Reservado para Conteúdo 3"/>
          <p:cNvGraphicFramePr/>
          <p:nvPr>
            <p:ph idx="1"/>
          </p:nvPr>
        </p:nvGraphicFramePr>
        <p:xfrm>
          <a:off x="647700" y="1825625"/>
          <a:ext cx="10515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81000">
                <a:tc>
                  <a:txBody>
                    <a:bodyPr/>
                    <a:p>
                      <a:pPr algn="l"/>
                      <a:r>
                        <a:rPr lang="en-US" altLang="zh-CN" sz="2800" b="0" i="0">
                          <a:solidFill>
                            <a:schemeClr val="bg1"/>
                          </a:solidFill>
                          <a:ea typeface="Inter"/>
                          <a:cs typeface="+mn-lt"/>
                        </a:rPr>
                        <a:t>Categoria</a:t>
                      </a:r>
                      <a:endParaRPr lang="en-US" altLang="zh-CN" sz="2800" b="0" i="0">
                        <a:solidFill>
                          <a:schemeClr val="bg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2800" b="0" i="0">
                          <a:solidFill>
                            <a:schemeClr val="bg1"/>
                          </a:solidFill>
                          <a:ea typeface="Inter"/>
                          <a:cs typeface="+mn-lt"/>
                        </a:rPr>
                        <a:t>Ferramentas</a:t>
                      </a:r>
                      <a:endParaRPr lang="en-US" altLang="zh-CN" sz="2800" b="0" i="0">
                        <a:solidFill>
                          <a:schemeClr val="bg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Frameworks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Express, NestJS, Fastify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Mensageria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RabbitMQ, Apache Kafka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Containerização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Docker, Docker Compose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Orquestração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Kubernetes, Docker Swarm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Monitoramento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Prometheus + Grafana, New Relic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Logs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ELK Stack (Elasticsearch, Logstash, Kibana)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Service Mesh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800" b="0" i="0">
                          <a:solidFill>
                            <a:schemeClr val="tx1"/>
                          </a:solidFill>
                          <a:ea typeface="Inter"/>
                          <a:cs typeface="+mn-lt"/>
                        </a:rPr>
                        <a:t>Istio, Linkerd</a:t>
                      </a:r>
                      <a:endParaRPr lang="en-US" altLang="zh-CN" sz="2800" b="0" i="0">
                        <a:solidFill>
                          <a:schemeClr val="tx1"/>
                        </a:solidFill>
                        <a:ea typeface="Inter"/>
                        <a:cs typeface="+mn-lt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 </a:t>
            </a:r>
            <a:r>
              <a:rPr lang="en-US" altLang="pt-BR">
                <a:sym typeface="+mn-ea"/>
              </a:rPr>
              <a:t>Crit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rios para Ado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pt-BR" altLang="en-US" b="1"/>
              <a:t>7.1 </a:t>
            </a:r>
            <a:r>
              <a:rPr lang="en-US" altLang="pt-BR" b="1"/>
              <a:t>Sistemas Complexos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Monolito tornou-se dif</a:t>
            </a:r>
            <a:r>
              <a:rPr lang="en-US" altLang="en-US"/>
              <a:t>í</a:t>
            </a:r>
            <a:r>
              <a:rPr lang="en-US" altLang="pt-BR"/>
              <a:t>cil de manter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Mudan</a:t>
            </a:r>
            <a:r>
              <a:rPr lang="en-US" altLang="en-US"/>
              <a:t>ç</a:t>
            </a:r>
            <a:r>
              <a:rPr lang="en-US" altLang="pt-BR"/>
              <a:t>as em uma </a:t>
            </a:r>
            <a:r>
              <a:rPr lang="en-US" altLang="en-US"/>
              <a:t>á</a:t>
            </a:r>
            <a:r>
              <a:rPr lang="en-US" altLang="pt-BR"/>
              <a:t>rea afetam todo o sistema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Alto acoplamento entre componentes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Tempo de deploy e teste muito longo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Dificuldade de escalar componentes espec</a:t>
            </a:r>
            <a:r>
              <a:rPr lang="en-US" altLang="en-US"/>
              <a:t>í</a:t>
            </a:r>
            <a:r>
              <a:rPr lang="en-US" altLang="pt-BR"/>
              <a:t>ficos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Sinais de Complexidade: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Mais de 100 mil linhas de c</a:t>
            </a:r>
            <a:r>
              <a:rPr lang="en-US" altLang="en-US"/>
              <a:t>ó</a:t>
            </a:r>
            <a:r>
              <a:rPr lang="en-US" altLang="pt-BR"/>
              <a:t>digo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Tempo de deploy superior a 1 hora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Mais de 10 desenvolvedores trabalhando simultaneamente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Mudan</a:t>
            </a:r>
            <a:r>
              <a:rPr lang="en-US" altLang="en-US"/>
              <a:t>ç</a:t>
            </a:r>
            <a:r>
              <a:rPr lang="en-US" altLang="pt-BR"/>
              <a:t>as frequentes geram riscos altos</a:t>
            </a:r>
            <a:endParaRPr lang="en-US" alt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7. </a:t>
            </a:r>
            <a:r>
              <a:rPr lang="en-US" altLang="pt-BR">
                <a:sym typeface="+mn-ea"/>
              </a:rPr>
              <a:t>Crit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rios para Ado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pt-BR" altLang="en-US" b="1"/>
              <a:t>7.2 </a:t>
            </a:r>
            <a:r>
              <a:rPr lang="en-US" altLang="pt-BR" b="1"/>
              <a:t>Equipes Distribu</a:t>
            </a:r>
            <a:r>
              <a:rPr lang="en-US" altLang="en-US" b="1"/>
              <a:t>í</a:t>
            </a:r>
            <a:r>
              <a:rPr lang="en-US" altLang="pt-BR" b="1"/>
              <a:t>das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Times multidisciplinares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Autonomia de desenvolvimento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Responsabilidade por servi</a:t>
            </a:r>
            <a:r>
              <a:rPr lang="en-US" altLang="en-US"/>
              <a:t>ç</a:t>
            </a:r>
            <a:r>
              <a:rPr lang="en-US" altLang="pt-BR"/>
              <a:t>os espec</a:t>
            </a:r>
            <a:r>
              <a:rPr lang="en-US" altLang="en-US"/>
              <a:t>í</a:t>
            </a:r>
            <a:r>
              <a:rPr lang="en-US" altLang="pt-BR"/>
              <a:t>ficos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Redu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depend</a:t>
            </a:r>
            <a:r>
              <a:rPr lang="en-US" altLang="en-US"/>
              <a:t>ê</a:t>
            </a:r>
            <a:r>
              <a:rPr lang="en-US" altLang="pt-BR"/>
              <a:t>ncias entre equipes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Possibilidade de trabalho em paralelo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Benef</a:t>
            </a:r>
            <a:r>
              <a:rPr lang="en-US" altLang="en-US" b="1"/>
              <a:t>í</a:t>
            </a:r>
            <a:r>
              <a:rPr lang="en-US" altLang="pt-BR" b="1"/>
              <a:t>cios Organizacionais: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Times menores e mais </a:t>
            </a:r>
            <a:r>
              <a:rPr lang="en-US" altLang="en-US"/>
              <a:t>á</a:t>
            </a:r>
            <a:r>
              <a:rPr lang="en-US" altLang="pt-BR"/>
              <a:t>geis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Maior produtividade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Responsabilidade compartilhada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Facilita contrata</a:t>
            </a:r>
            <a:r>
              <a:rPr lang="en-US" altLang="en-US"/>
              <a:t>çõ</a:t>
            </a:r>
            <a:r>
              <a:rPr lang="en-US" altLang="pt-BR"/>
              <a:t>es e especializa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7. </a:t>
            </a:r>
            <a:r>
              <a:rPr lang="en-US" altLang="pt-BR">
                <a:sym typeface="+mn-ea"/>
              </a:rPr>
              <a:t>Crit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rios para Ado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pt-BR" altLang="en-US" b="1"/>
              <a:t>7.3 </a:t>
            </a:r>
            <a:r>
              <a:rPr lang="en-US" altLang="pt-BR" b="1"/>
              <a:t>Alta Escalabilidade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Escalar componentes individualmente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Diferentes demandas de processamento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Otimiza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recursos computacionais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Flexibilidade de infraestrutura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Exemplos de Escalabilidade: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precisa de alta disponibilidade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Carrinho de compras com picos sazonais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Processamento de pagamentos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Sistemas de recomenda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7. </a:t>
            </a:r>
            <a:r>
              <a:rPr lang="en-US" altLang="pt-BR">
                <a:sym typeface="+mn-ea"/>
              </a:rPr>
              <a:t>Crit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rios para Ado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Microsservi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pt-BR" altLang="en-US" b="1"/>
              <a:t>7.4 </a:t>
            </a:r>
            <a:r>
              <a:rPr lang="en-US" altLang="pt-BR" b="1"/>
              <a:t>Flexibilidade Tecnol</a:t>
            </a:r>
            <a:r>
              <a:rPr lang="en-US" altLang="en-US" b="1"/>
              <a:t>ó</a:t>
            </a:r>
            <a:r>
              <a:rPr lang="en-US" altLang="pt-BR" b="1"/>
              <a:t>gica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Usar tecnologias espec</a:t>
            </a:r>
            <a:r>
              <a:rPr lang="en-US" altLang="en-US"/>
              <a:t>í</a:t>
            </a:r>
            <a:r>
              <a:rPr lang="en-US" altLang="pt-BR"/>
              <a:t>ficas por servi</a:t>
            </a:r>
            <a:r>
              <a:rPr lang="en-US" altLang="en-US"/>
              <a:t>ç</a:t>
            </a:r>
            <a:r>
              <a:rPr lang="en-US" altLang="pt-BR"/>
              <a:t>o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Facilidade de atualiza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tecnol</a:t>
            </a:r>
            <a:r>
              <a:rPr lang="en-US" altLang="en-US"/>
              <a:t>ó</a:t>
            </a:r>
            <a:r>
              <a:rPr lang="en-US" altLang="pt-BR"/>
              <a:t>gica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Independ</a:t>
            </a:r>
            <a:r>
              <a:rPr lang="en-US" altLang="en-US"/>
              <a:t>ê</a:t>
            </a:r>
            <a:r>
              <a:rPr lang="en-US" altLang="pt-BR"/>
              <a:t>ncia de linguagens/frameworks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Experimenta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tecnol</a:t>
            </a:r>
            <a:r>
              <a:rPr lang="en-US" altLang="en-US"/>
              <a:t>ó</a:t>
            </a:r>
            <a:r>
              <a:rPr lang="en-US" altLang="pt-BR"/>
              <a:t>gica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Casos de Uso: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Machine learning em Python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Processamento de dados em Scala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Backend em Node.js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os cr</a:t>
            </a:r>
            <a:r>
              <a:rPr lang="en-US" altLang="en-US"/>
              <a:t>í</a:t>
            </a:r>
            <a:r>
              <a:rPr lang="en-US" altLang="pt-BR"/>
              <a:t>ticos em Java</a:t>
            </a:r>
            <a:endParaRPr lang="en-US" alt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8. Boas práticas em Microsserviços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pt-BR" altLang="en-US" b="1"/>
              <a:t>1. </a:t>
            </a:r>
            <a:r>
              <a:rPr lang="en-US" altLang="pt-BR" b="1"/>
              <a:t>Defini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de Limites Claros com </a:t>
            </a:r>
            <a:r>
              <a:rPr lang="en-US" altLang="pt-BR" b="1" i="1"/>
              <a:t>Domain-Driven Design</a:t>
            </a:r>
            <a:r>
              <a:rPr lang="en-US" altLang="pt-BR" b="1"/>
              <a:t> (DDD)</a:t>
            </a:r>
            <a:endParaRPr lang="en-US" altLang="pt-BR" b="1"/>
          </a:p>
          <a:p>
            <a:r>
              <a:rPr lang="en-US" altLang="pt-BR"/>
              <a:t>Domain-Driven Design (DDD) </a:t>
            </a:r>
            <a:r>
              <a:rPr lang="en-US" altLang="en-US"/>
              <a:t>é</a:t>
            </a:r>
            <a:r>
              <a:rPr lang="en-US" altLang="pt-BR"/>
              <a:t> um conjunto de princ</a:t>
            </a:r>
            <a:r>
              <a:rPr lang="en-US" altLang="en-US"/>
              <a:t>í</a:t>
            </a:r>
            <a:r>
              <a:rPr lang="en-US" altLang="pt-BR"/>
              <a:t>pios para projeto de software, organizados e sistematizados em 2003, por Eric Evans, em um livro com o mesmo nome.</a:t>
            </a:r>
            <a:endParaRPr lang="en-US" altLang="pt-BR"/>
          </a:p>
          <a:p>
            <a:r>
              <a:rPr lang="en-US" altLang="pt-BR"/>
              <a:t>Os princ</a:t>
            </a:r>
            <a:r>
              <a:rPr lang="en-US" altLang="en-US"/>
              <a:t>í</a:t>
            </a:r>
            <a:r>
              <a:rPr lang="en-US" altLang="pt-BR"/>
              <a:t>pios defendidos por DDD t</a:t>
            </a:r>
            <a:r>
              <a:rPr lang="en-US" altLang="en-US"/>
              <a:t>ê</a:t>
            </a:r>
            <a:r>
              <a:rPr lang="en-US" altLang="pt-BR"/>
              <a:t>m, no seu conjunto, um objetivo central: permitir o desenvolvimento de sistemas cujo design </a:t>
            </a:r>
            <a:r>
              <a:rPr lang="en-US" altLang="en-US"/>
              <a:t>é</a:t>
            </a:r>
            <a:r>
              <a:rPr lang="en-US" altLang="pt-BR"/>
              <a:t> centrado em conceitos pr</a:t>
            </a:r>
            <a:r>
              <a:rPr lang="en-US" altLang="en-US"/>
              <a:t>ó</a:t>
            </a:r>
            <a:r>
              <a:rPr lang="en-US" altLang="pt-BR"/>
              <a:t>ximos e alinhados com um dom</a:t>
            </a:r>
            <a:r>
              <a:rPr lang="en-US" altLang="en-US"/>
              <a:t>í</a:t>
            </a:r>
            <a:r>
              <a:rPr lang="en-US" altLang="pt-BR"/>
              <a:t>nio de neg</a:t>
            </a:r>
            <a:r>
              <a:rPr lang="en-US" altLang="en-US"/>
              <a:t>ó</a:t>
            </a:r>
            <a:r>
              <a:rPr lang="en-US" altLang="pt-BR"/>
              <a:t>cio.</a:t>
            </a:r>
            <a:endParaRPr lang="en-US" altLang="pt-BR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Princ</a:t>
            </a:r>
            <a:r>
              <a:rPr lang="en-US" altLang="en-US"/>
              <a:t>í</a:t>
            </a:r>
            <a:r>
              <a:rPr lang="en-US" altLang="pt-BR"/>
              <a:t>pios Fundamentais: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Identificar bounded contexts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Mapear dom</a:t>
            </a:r>
            <a:r>
              <a:rPr lang="en-US" altLang="en-US"/>
              <a:t>í</a:t>
            </a:r>
            <a:r>
              <a:rPr lang="en-US" altLang="pt-BR"/>
              <a:t>nios de neg</a:t>
            </a:r>
            <a:r>
              <a:rPr lang="en-US" altLang="en-US"/>
              <a:t>ó</a:t>
            </a:r>
            <a:r>
              <a:rPr lang="en-US" altLang="pt-BR"/>
              <a:t>cio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Definir fronteiras bem delimitadas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Minimizar acoplamento entre servi</a:t>
            </a:r>
            <a:r>
              <a:rPr lang="en-US" altLang="en-US"/>
              <a:t>ç</a:t>
            </a:r>
            <a:r>
              <a:rPr lang="en-US" altLang="pt-BR"/>
              <a:t>os</a:t>
            </a:r>
            <a:endParaRPr lang="en-US" alt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8. Boas práticas em Microsserviços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2. </a:t>
            </a:r>
            <a:r>
              <a:rPr lang="en-US" altLang="pt-BR" b="1"/>
              <a:t>Padroniza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de Comunica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</a:t>
            </a:r>
            <a:endParaRPr lang="en-US" altLang="pt-BR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Estrat</a:t>
            </a:r>
            <a:r>
              <a:rPr lang="en-US" altLang="en-US"/>
              <a:t>é</a:t>
            </a:r>
            <a:r>
              <a:rPr lang="en-US" altLang="pt-BR"/>
              <a:t>gias de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REST</a:t>
            </a:r>
            <a:r>
              <a:rPr lang="pt-BR" altLang="en-US"/>
              <a:t> (</a:t>
            </a:r>
            <a:r>
              <a:rPr lang="en-US" altLang="pt-BR"/>
              <a:t>https://developer.mozilla.org/pt-BR/docs/Glossary/REST</a:t>
            </a:r>
            <a:r>
              <a:rPr lang="pt-BR" altLang="en-US"/>
              <a:t>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GraphQL</a:t>
            </a:r>
            <a:r>
              <a:rPr lang="pt-BR" altLang="en-US"/>
              <a:t> (</a:t>
            </a:r>
            <a:r>
              <a:rPr lang="en-US" altLang="pt-BR"/>
              <a:t>https://graphql.org/learn/</a:t>
            </a:r>
            <a:r>
              <a:rPr lang="pt-BR" altLang="en-US"/>
              <a:t>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gRPC</a:t>
            </a:r>
            <a:r>
              <a:rPr lang="pt-BR" altLang="en-US"/>
              <a:t> (</a:t>
            </a:r>
            <a:r>
              <a:rPr lang="en-US" altLang="pt-BR"/>
              <a:t>https://grpc.io/docs/what-is-grpc/introduction/</a:t>
            </a:r>
            <a:r>
              <a:rPr lang="pt-BR" altLang="en-US"/>
              <a:t>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Mensageria</a:t>
            </a:r>
            <a:endParaRPr lang="en-US" altLang="pt-BR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pt-BR"/>
              <a:t>Kafka </a:t>
            </a:r>
            <a:r>
              <a:rPr lang="pt-BR" altLang="en-US"/>
              <a:t>(</a:t>
            </a:r>
            <a:r>
              <a:rPr lang="en-US" altLang="pt-BR"/>
              <a:t>https://kafka.apache.org/intro</a:t>
            </a:r>
            <a:r>
              <a:rPr lang="pt-BR" altLang="en-US"/>
              <a:t>)</a:t>
            </a:r>
            <a:endParaRPr lang="en-US" altLang="pt-BR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pt-BR"/>
              <a:t>RabbitMQ</a:t>
            </a:r>
            <a:r>
              <a:rPr lang="pt-BR" altLang="en-US"/>
              <a:t> (</a:t>
            </a:r>
            <a:r>
              <a:rPr lang="en-US" altLang="pt-BR"/>
              <a:t>https://www.rabbitmq.com/tutorials</a:t>
            </a:r>
            <a:r>
              <a:rPr lang="en-US" altLang="pt-BR"/>
              <a:t>)</a:t>
            </a:r>
            <a:endParaRPr lang="en-US" altLang="pt-B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8. Boas práticas em Microsserviços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3. </a:t>
            </a:r>
            <a:r>
              <a:rPr lang="en-US" altLang="pt-BR" b="1"/>
              <a:t>Automa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Completa</a:t>
            </a:r>
            <a:endParaRPr lang="en-US" altLang="pt-BR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Componentes de Automa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Integra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Cont</a:t>
            </a:r>
            <a:r>
              <a:rPr lang="en-US" altLang="en-US"/>
              <a:t>í</a:t>
            </a:r>
            <a:r>
              <a:rPr lang="en-US" altLang="pt-BR"/>
              <a:t>nua (CI)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Entrega Cont</a:t>
            </a:r>
            <a:r>
              <a:rPr lang="en-US" altLang="en-US"/>
              <a:t>í</a:t>
            </a:r>
            <a:r>
              <a:rPr lang="en-US" altLang="pt-BR"/>
              <a:t>nua (CD)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Infraestrutura como C</a:t>
            </a:r>
            <a:r>
              <a:rPr lang="en-US" altLang="en-US"/>
              <a:t>ó</a:t>
            </a:r>
            <a:r>
              <a:rPr lang="en-US" altLang="pt-BR"/>
              <a:t>digo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pt-BR"/>
          </a:p>
          <a:p>
            <a:pPr marL="0" lvl="0" indent="0">
              <a:buNone/>
            </a:pPr>
            <a:r>
              <a:rPr lang="en-US" altLang="pt-BR" b="1"/>
              <a:t>Exemplo de Pipeline CI/CD (GitHub Actions):</a:t>
            </a:r>
            <a:endParaRPr lang="en-US" altLang="pt-BR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>
                <a:sym typeface="+mn-ea"/>
              </a:rPr>
              <a:t>8. Boas práticas em Microsserviços</a:t>
            </a:r>
            <a:endParaRPr lang="en-US" altLang="pt-BR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41140" y="1825625"/>
            <a:ext cx="37274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8. Boas práticas em Microsserviços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pt-BR" altLang="en-US" b="1"/>
              <a:t>4. </a:t>
            </a:r>
            <a:r>
              <a:rPr lang="en-US" altLang="pt-BR" b="1"/>
              <a:t>Observabilidade Centralizada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Ferramentas</a:t>
            </a:r>
            <a:r>
              <a:rPr lang="en-US" altLang="pt-BR"/>
              <a:t>: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Prometheus (M</a:t>
            </a:r>
            <a:r>
              <a:rPr lang="en-US" altLang="en-US"/>
              <a:t>é</a:t>
            </a:r>
            <a:r>
              <a:rPr lang="en-US" altLang="pt-BR"/>
              <a:t>tricas)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https://prometheus.io/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Jaeger (Distributed Tracing)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https://www.jaegertracing.io/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ELK Stack (Logs)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https://www.elastic.co/elastic-stack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Grafana (Visualiza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o)</a:t>
            </a:r>
            <a:endParaRPr lang="en-US" altLang="pt-BR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pt-BR"/>
              <a:t>https://grafana.com/</a:t>
            </a:r>
            <a:endParaRPr lang="en-US" altLang="pt-B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8. Boas práticas em Microsserviços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10965" y="1825625"/>
            <a:ext cx="39884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14389</Words>
  <Application>WPS Presentation</Application>
  <PresentationFormat>宽屏</PresentationFormat>
  <Paragraphs>406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Inter</vt:lpstr>
      <vt:lpstr>Segoe Print</vt:lpstr>
      <vt:lpstr>Office Theme</vt:lpstr>
      <vt:lpstr>PowerPoint 演示文稿</vt:lpstr>
      <vt:lpstr>Serviços</vt:lpstr>
      <vt:lpstr>1. Introdução aos Serviços</vt:lpstr>
      <vt:lpstr>Principais Características de um Serviço</vt:lpstr>
      <vt:lpstr>2. Tipos de Serviços</vt:lpstr>
      <vt:lpstr>2. Tipos de Serviços</vt:lpstr>
      <vt:lpstr>2. Tipos de Serviços</vt:lpstr>
      <vt:lpstr>3. O que é um Monolito?</vt:lpstr>
      <vt:lpstr>Características de um Monolito</vt:lpstr>
      <vt:lpstr>Vantagens e Desvantagens</vt:lpstr>
      <vt:lpstr>4. Quando Usar Cada Abordagem?</vt:lpstr>
      <vt:lpstr>5. Melhores Práticas para Projetar Serviços</vt:lpstr>
      <vt:lpstr>Microsserviços</vt:lpstr>
      <vt:lpstr>1. O que são Microsserviços?</vt:lpstr>
      <vt:lpstr>1. O que são Microsserviços?</vt:lpstr>
      <vt:lpstr>Desenvolvimento de aplicações mais eficiente</vt:lpstr>
      <vt:lpstr>2. Características Principais</vt:lpstr>
      <vt:lpstr>2. Características Principais</vt:lpstr>
      <vt:lpstr>3. Benefícios da Arquitetura de Microsserviços</vt:lpstr>
      <vt:lpstr>4. Desafios da Arquitetura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5. Padrões Arquiteturais Comuns</vt:lpstr>
      <vt:lpstr>6. Ferramentas para Microsserviços em JavaScript</vt:lpstr>
      <vt:lpstr>7. Critérios para Adoção de Microsserviços</vt:lpstr>
      <vt:lpstr>7. Critérios para Adoção de Microsserviços</vt:lpstr>
      <vt:lpstr>7. Critérios para Adoção de Microsserviços</vt:lpstr>
      <vt:lpstr>7. Critérios para Adoção de Microsserviços</vt:lpstr>
      <vt:lpstr>8. Boas práticas em Microsserviços</vt:lpstr>
      <vt:lpstr>8. Boas práticas em Microsserviços</vt:lpstr>
      <vt:lpstr>8. Boas práticas em Microsserviços</vt:lpstr>
      <vt:lpstr>8. Boas práticas em Microsserviços</vt:lpstr>
      <vt:lpstr>8. Boas práticas em Microsserviços</vt:lpstr>
      <vt:lpstr>8. Boas práticas em Microsserviços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</dc:creator>
  <cp:lastModifiedBy>Jacques Simões</cp:lastModifiedBy>
  <cp:revision>17</cp:revision>
  <dcterms:created xsi:type="dcterms:W3CDTF">2025-03-18T01:07:00Z</dcterms:created>
  <dcterms:modified xsi:type="dcterms:W3CDTF">2026-07-07T22:24:10Z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1046-12.1.0.26880</vt:lpwstr>
  </property>
  <property fmtid="{D5CDD505-2E9C-101B-9397-08002B2CF9AE}" pid="3" name="ICV">
    <vt:lpwstr>6EF49FB8012A4A20849DAED66A7BC7CE_11</vt:lpwstr>
  </property>
</Properties>
</file>