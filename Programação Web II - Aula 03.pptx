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handoutMasterIdLst>
    <p:handoutMasterId r:id="rId18"/>
  </p:handoutMasterIdLst>
  <p:sldIdLst>
    <p:sldId id="256" r:id="rId3"/>
    <p:sldId id="257" r:id="rId4"/>
    <p:sldId id="258" r:id="rId5"/>
    <p:sldId id="267" r:id="rId6"/>
    <p:sldId id="259" r:id="rId7"/>
    <p:sldId id="268" r:id="rId8"/>
    <p:sldId id="260" r:id="rId9"/>
    <p:sldId id="269" r:id="rId10"/>
    <p:sldId id="261" r:id="rId11"/>
    <p:sldId id="264" r:id="rId12"/>
    <p:sldId id="265" r:id="rId13"/>
    <p:sldId id="262" r:id="rId14"/>
    <p:sldId id="263" r:id="rId15"/>
    <p:sldId id="266" r:id="rId16"/>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2278" autoAdjust="0"/>
    <p:restoredTop sz="94660"/>
  </p:normalViewPr>
  <p:slideViewPr>
    <p:cSldViewPr snapToGrid="0" showGuides="1">
      <p:cViewPr varScale="1">
        <p:scale>
          <a:sx n="117" d="100"/>
          <a:sy n="117" d="100"/>
        </p:scale>
        <p:origin x="510" y="102"/>
      </p:cViewPr>
      <p:guideLst>
        <p:guide orient="horz" pos="2159"/>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en-US"/>
          </a:p>
        </p:txBody>
      </p:sp>
      <p:sp>
        <p:nvSpPr>
          <p:cNvPr id="3" name="Date Placeholder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en-US" smtClean="0"/>
            </a:fld>
            <a:endParaRPr lang="en-US"/>
          </a:p>
        </p:txBody>
      </p:sp>
      <p:sp>
        <p:nvSpPr>
          <p:cNvPr id="4" name="Footer Placeholder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en-US"/>
          </a:p>
        </p:txBody>
      </p:sp>
      <p:sp>
        <p:nvSpPr>
          <p:cNvPr id="5" name="Slide Number Placeholder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US"/>
          </a:p>
        </p:txBody>
      </p:sp>
      <p:sp>
        <p:nvSpPr>
          <p:cNvPr id="3" name="Slide Number Placeholder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en-US" smtClean="0"/>
            </a:fld>
            <a:endParaRPr lang="en-US"/>
          </a:p>
        </p:txBody>
      </p:sp>
      <p:sp>
        <p:nvSpPr>
          <p:cNvPr id="4" name="Slide Image Placeho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 Placeholder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322962"/>
            <a:ext cx="9144000" cy="2187001"/>
          </a:xfrm>
        </p:spPr>
        <p:txBody>
          <a:bodyPr anchor="b">
            <a:normAutofit/>
          </a:bodyPr>
          <a:lstStyle>
            <a:lvl1pPr algn="ctr">
              <a:lnSpc>
                <a:spcPct val="130000"/>
              </a:lnSpc>
              <a:defRPr sz="6000">
                <a:effectLst/>
                <a:latin typeface="Calibri Light" panose="020F0302020204030204" pitchFamily="34" charset="0"/>
              </a:defRPr>
            </a:lvl1pPr>
          </a:lstStyle>
          <a:p>
            <a:r>
              <a:rPr lang="en-US" dirty="0" smtClean="0"/>
              <a:t>Click to edit Master title style</a:t>
            </a:r>
            <a:endParaRPr lang="en-US" dirty="0"/>
          </a:p>
        </p:txBody>
      </p:sp>
      <p:sp>
        <p:nvSpPr>
          <p:cNvPr id="4" name="Date Placeholder  3"/>
          <p:cNvSpPr>
            <a:spLocks noGrp="1"/>
          </p:cNvSpPr>
          <p:nvPr>
            <p:ph type="dt" sz="half" idx="10"/>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fld>
            <a:endParaRPr lang="en-US"/>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Calibri Light" panose="020F0302020204030204" pitchFamily="34" charset="0"/>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chor="ctr" anchorCtr="0">
            <a:normAutofit/>
          </a:bodyPr>
          <a:lstStyle>
            <a:lvl1pPr>
              <a:defRPr sz="4400" b="1">
                <a:effectLst/>
                <a:latin typeface="Calibri Light" panose="020F030202020403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smtClean="0"/>
              <a:t>Click to edit Master text styles</a:t>
            </a:r>
            <a:endParaRPr lang="en-US" dirty="0" smtClean="0"/>
          </a:p>
          <a:p>
            <a:pPr lvl="1"/>
            <a:r>
              <a:rPr lang="en-US" dirty="0"/>
              <a:t>Second level </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3750945"/>
            <a:ext cx="9843135" cy="811530"/>
          </a:xfrm>
        </p:spPr>
        <p:txBody>
          <a:bodyPr anchor="b">
            <a:noAutofit/>
          </a:bodyPr>
          <a:lstStyle>
            <a:lvl1pPr>
              <a:defRPr sz="6000">
                <a:effectLst/>
              </a:defRPr>
            </a:lvl1pPr>
          </a:lstStyle>
          <a:p>
            <a:r>
              <a:rPr lang="en-US" dirty="0" smtClean="0">
                <a:sym typeface="+mn-ea"/>
              </a:rPr>
              <a:t>Click to edit Master title style</a:t>
            </a:r>
            <a:endParaRPr lang="en-US" dirty="0" smtClean="0">
              <a:sym typeface="+mn-ea"/>
            </a:endParaRPr>
          </a:p>
        </p:txBody>
      </p:sp>
      <p:sp>
        <p:nvSpPr>
          <p:cNvPr id="3" name="Text Placeholder 2"/>
          <p:cNvSpPr>
            <a:spLocks noGrp="1"/>
          </p:cNvSpPr>
          <p:nvPr>
            <p:ph type="body" idx="1"/>
          </p:nvPr>
        </p:nvSpPr>
        <p:spPr>
          <a:xfrm>
            <a:off x="831850" y="4610028"/>
            <a:ext cx="7321550" cy="647555"/>
          </a:xfrm>
        </p:spPr>
        <p:txBody>
          <a:bodyPr>
            <a:noAutofit/>
          </a:bodyPr>
          <a:lstStyle>
            <a:lvl1pPr marL="0" indent="0">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4" name="Slide Number Placeholder 3"/>
          <p:cNvSpPr>
            <a:spLocks noGrp="1"/>
          </p:cNvSpPr>
          <p:nvPr>
            <p:ph type="dt" sz="half" idx="10"/>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ormAutofit/>
          </a:bodyPr>
          <a:lstStyle>
            <a:lvl1pPr>
              <a:defRPr sz="4400" b="0" i="0">
                <a:effectLst/>
              </a:defRPr>
            </a:lvl1pPr>
          </a:lstStyle>
          <a:p>
            <a:r>
              <a:rPr lang="en-US" dirty="0" smtClean="0">
                <a:sym typeface="+mn-ea"/>
              </a:rPr>
              <a:t>Click to edit Master title style</a:t>
            </a:r>
            <a:endParaRPr lang="en-US" dirty="0"/>
          </a:p>
        </p:txBody>
      </p:sp>
      <p:sp>
        <p:nvSpPr>
          <p:cNvPr id="3" name="Content Placeholder 2"/>
          <p:cNvSpPr>
            <a:spLocks noGrp="1"/>
          </p:cNvSpPr>
          <p:nvPr>
            <p:ph sz="half" idx="1"/>
          </p:nvPr>
        </p:nvSpPr>
        <p:spPr>
          <a:xfrm>
            <a:off x="647700" y="1825625"/>
            <a:ext cx="5181600" cy="4351338"/>
          </a:xfrm>
        </p:spPr>
        <p:txBody>
          <a:bodyPr>
            <a:normAutofit/>
          </a:bodyPr>
          <a:lstStyle>
            <a:lvl1pPr>
              <a:lnSpc>
                <a:spcPct val="150000"/>
              </a:lnSpc>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lnSpc>
                <a:spcPct val="150000"/>
              </a:lnSpc>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lnSpc>
                <a:spcPct val="150000"/>
              </a:lnSpc>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5981700" y="1825625"/>
            <a:ext cx="5181600" cy="4351338"/>
          </a:xfrm>
        </p:spPr>
        <p:txBody>
          <a:bodyPr>
            <a:normAutofit/>
          </a:bodyPr>
          <a:lstStyle>
            <a:lvl1pPr>
              <a:lnSpc>
                <a:spcPct val="150000"/>
              </a:lnSpc>
              <a:defRPr kumimoji="0" lang="en-US" sz="2800" b="0" i="0" u="none" strike="noStrike" kern="1200" cap="none" spc="0" normalizeH="0" baseline="0" noProof="1" dirty="0">
                <a:solidFill>
                  <a:schemeClr val="tx1">
                    <a:lumMod val="75000"/>
                    <a:lumOff val="25000"/>
                  </a:schemeClr>
                </a:solidFill>
                <a:latin typeface="Calibri Light" panose="020F0302020204030204" pitchFamily="34" charset="0"/>
                <a:ea typeface="+mn-ea"/>
                <a:cs typeface="+mn-cs"/>
              </a:defRPr>
            </a:lvl1pPr>
            <a:lvl2pPr>
              <a:lnSpc>
                <a:spcPct val="150000"/>
              </a:lnSpc>
              <a:defRPr sz="2400">
                <a:solidFill>
                  <a:schemeClr val="tx1">
                    <a:lumMod val="75000"/>
                    <a:lumOff val="25000"/>
                  </a:schemeClr>
                </a:solidFill>
              </a:defRPr>
            </a:lvl2pPr>
            <a:lvl3pPr>
              <a:lnSpc>
                <a:spcPct val="150000"/>
              </a:lnSpc>
              <a:defRPr sz="2000">
                <a:solidFill>
                  <a:schemeClr val="tx1">
                    <a:lumMod val="75000"/>
                    <a:lumOff val="25000"/>
                  </a:schemeClr>
                </a:solidFill>
              </a:defRPr>
            </a:lvl3pPr>
            <a:lvl4pPr>
              <a:lnSpc>
                <a:spcPct val="150000"/>
              </a:lnSpc>
              <a:defRPr sz="2000">
                <a:solidFill>
                  <a:schemeClr val="tx1">
                    <a:lumMod val="75000"/>
                    <a:lumOff val="25000"/>
                  </a:schemeClr>
                </a:solidFill>
              </a:defRPr>
            </a:lvl4pPr>
            <a:lvl5pPr>
              <a:lnSpc>
                <a:spcPct val="150000"/>
              </a:lnSpc>
              <a:defRPr sz="2000">
                <a:solidFill>
                  <a:schemeClr val="tx1">
                    <a:lumMod val="75000"/>
                    <a:lumOff val="25000"/>
                  </a:schemeClr>
                </a:solidFill>
              </a:defRPr>
            </a:lvl5pPr>
          </a:lstStyle>
          <a:p>
            <a:pPr lvl="0"/>
            <a:r>
              <a:rPr lang="en-US" dirty="0"/>
              <a:t>Click to edit Master text styles</a:t>
            </a:r>
            <a:endParaRPr lang="en-US" dirty="0"/>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
        <p:nvSpPr>
          <p:cNvPr id="5" name="Date Placeholder 4"/>
          <p:cNvSpPr>
            <a:spLocks noGrp="1"/>
          </p:cNvSpPr>
          <p:nvPr>
            <p:ph type="dt" sz="half" idx="10"/>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sz="4400"/>
            </a:lvl1pPr>
          </a:lstStyle>
          <a:p>
            <a:r>
              <a:rPr lang="en-US" dirty="0" smtClean="0">
                <a:sym typeface="+mn-ea"/>
              </a:rPr>
              <a:t>Click to edit Master title style</a:t>
            </a:r>
            <a:endParaRPr lang="en-US"/>
          </a:p>
        </p:txBody>
      </p:sp>
      <p:sp>
        <p:nvSpPr>
          <p:cNvPr id="3" name="Text Placeholder 2"/>
          <p:cNvSpPr>
            <a:spLocks noGrp="1"/>
          </p:cNvSpPr>
          <p:nvPr>
            <p:ph type="body" idx="1"/>
          </p:nvPr>
        </p:nvSpPr>
        <p:spPr>
          <a:xfrm>
            <a:off x="839788" y="1744961"/>
            <a:ext cx="5157787"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4" name="Content Placeholder 3"/>
          <p:cNvSpPr>
            <a:spLocks noGrp="1"/>
          </p:cNvSpPr>
          <p:nvPr>
            <p:ph sz="half" idx="2"/>
          </p:nvPr>
        </p:nvSpPr>
        <p:spPr>
          <a:xfrm>
            <a:off x="839788" y="2615609"/>
            <a:ext cx="5157787" cy="3574054"/>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6" name="内容占位符 5"/>
          <p:cNvSpPr>
            <a:spLocks noGrp="1"/>
          </p:cNvSpPr>
          <p:nvPr>
            <p:ph sz="quarter" idx="4"/>
          </p:nvPr>
        </p:nvSpPr>
        <p:spPr>
          <a:xfrm>
            <a:off x="6172200" y="2615609"/>
            <a:ext cx="5183188" cy="3574054"/>
          </a:xfrm>
        </p:spPr>
        <p:txBody>
          <a:bodyPr/>
          <a:lstStyle/>
          <a:p>
            <a:pPr lvl="0"/>
            <a:r>
              <a:rPr lang="en-US" dirty="0">
                <a:sym typeface="+mn-ea"/>
              </a:rPr>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Date Placeholder 6"/>
          <p:cNvSpPr>
            <a:spLocks noGrp="1"/>
          </p:cNvSpPr>
          <p:nvPr>
            <p:ph type="dt" sz="half" idx="10"/>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219"/>
            <a:ext cx="10515600" cy="1325563"/>
          </a:xfrm>
        </p:spPr>
        <p:txBody>
          <a:bodyPr>
            <a:normAutofit/>
          </a:bodyPr>
          <a:lstStyle>
            <a:lvl1pPr algn="ctr">
              <a:defRPr sz="4400" b="0">
                <a:effectLst/>
                <a:latin typeface="Calibri Light" panose="020F0302020204030204" pitchFamily="34" charset="0"/>
                <a:cs typeface="Calibri Light" panose="020F0302020204030204" pitchFamily="34" charset="0"/>
              </a:defRPr>
            </a:lvl1pPr>
          </a:lstStyle>
          <a:p>
            <a:r>
              <a:rPr lang="en-US" dirty="0"/>
              <a:t>Click to edit Master title style</a:t>
            </a:r>
            <a:endParaRPr lang="en-US" dirty="0"/>
          </a:p>
        </p:txBody>
      </p:sp>
      <p:sp>
        <p:nvSpPr>
          <p:cNvPr id="3" name="Date Placeholder 2"/>
          <p:cNvSpPr>
            <a:spLocks noGrp="1"/>
          </p:cNvSpPr>
          <p:nvPr>
            <p:ph type="dt" sz="half" idx="10"/>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6747" y="127000"/>
            <a:ext cx="4165200" cy="1600200"/>
          </a:xfrm>
        </p:spPr>
        <p:txBody>
          <a:bodyPr anchor="ctr" anchorCtr="0">
            <a:normAutofit/>
          </a:bodyPr>
          <a:lstStyle>
            <a:lvl1pPr>
              <a:defRPr sz="3200" b="0">
                <a:effectLst/>
                <a:latin typeface="Calibri Light" panose="020F0302020204030204" pitchFamily="34" charset="0"/>
                <a:cs typeface="Calibri Light" panose="020F0302020204030204" pitchFamily="34" charset="0"/>
              </a:defRPr>
            </a:lvl1pPr>
          </a:lstStyle>
          <a:p>
            <a:r>
              <a:rPr lang="en-US" dirty="0"/>
              <a:t>Click to edit Master title style</a:t>
            </a:r>
            <a:endParaRPr lang="en-US" dirty="0"/>
          </a:p>
        </p:txBody>
      </p:sp>
      <p:sp>
        <p:nvSpPr>
          <p:cNvPr id="3" name="Picture Placeholder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endParaRPr lang="en-US" dirty="0"/>
          </a:p>
        </p:txBody>
      </p:sp>
      <p:sp>
        <p:nvSpPr>
          <p:cNvPr id="5" name="Date Placeholder 4"/>
          <p:cNvSpPr>
            <a:spLocks noGrp="1"/>
          </p:cNvSpPr>
          <p:nvPr>
            <p:ph type="dt" sz="half" idx="10"/>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BC47A4-756D-490B-A52F-7D9E2C9FC05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24484" y="365125"/>
            <a:ext cx="1529316" cy="5811838"/>
          </a:xfrm>
        </p:spPr>
        <p:txBody>
          <a:bodyPr vert="eaVert">
            <a:normAutofit/>
          </a:bodyPr>
          <a:lstStyle>
            <a:lvl1pPr>
              <a:defRPr sz="4400"/>
            </a:lvl1pPr>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8879958" cy="5811838"/>
          </a:xfrm>
        </p:spPr>
        <p:txBody>
          <a:bodyPr vert="eaVert"/>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fld>
            <a:endParaRPr lang="en-US"/>
          </a:p>
        </p:txBody>
      </p:sp>
      <p:sp>
        <p:nvSpPr>
          <p:cNvPr id="7" name="Content Placeholder 6"/>
          <p:cNvSpPr>
            <a:spLocks noGrp="1"/>
          </p:cNvSpPr>
          <p:nvPr>
            <p:ph sz="quarter" idx="13"/>
          </p:nvPr>
        </p:nvSpPr>
        <p:spPr>
          <a:xfrm>
            <a:off x="838200" y="551543"/>
            <a:ext cx="10515600" cy="5558971"/>
          </a:xfrm>
        </p:spPr>
        <p:txBody>
          <a:bodyPr/>
          <a:lstStyle/>
          <a:p>
            <a:pPr lvl="0"/>
            <a:r>
              <a:rPr lang="en-US" dirty="0">
                <a:sym typeface="+mn-ea"/>
              </a:rPr>
              <a:t>Click to edit Master text styles</a:t>
            </a:r>
            <a:endParaRPr lang="en-US" dirty="0"/>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a:p>
          <a:p>
            <a:pPr lvl="3"/>
            <a:r>
              <a:rPr lang="en-US" dirty="0" smtClean="0"/>
              <a:t>Fourth level</a:t>
            </a:r>
            <a:endParaRPr lang="en-US" dirty="0"/>
          </a:p>
          <a:p>
            <a:pPr lvl="4"/>
            <a:r>
              <a:rPr lang="en-US" dirty="0"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baseline="0">
                <a:solidFill>
                  <a:schemeClr val="tx1">
                    <a:tint val="75000"/>
                  </a:schemeClr>
                </a:solidFill>
              </a:defRPr>
            </a:lvl1pPr>
          </a:lstStyle>
          <a:p>
            <a:fld id="{760FBDFE-C587-4B4C-A407-44438C67B59E}" type="datetimeFigureOut">
              <a:rPr lang="en-US" smtClean="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Calibri Light" panose="020F0302020204030204" pitchFamily="34" charset="0"/>
                <a:cs typeface="Calibri Light" panose="020F030202020403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latin typeface="Calibri Light" panose="020F0302020204030204" pitchFamily="34" charset="0"/>
                <a:cs typeface="Calibri Light" panose="020F0302020204030204" pitchFamily="34" charset="0"/>
              </a:defRPr>
            </a:lvl1pPr>
          </a:lstStyle>
          <a:p>
            <a:fld id="{49AE70B2-8BF9-45C0-BB95-33D1B9D3A854}"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Calibri Light" panose="020F0302020204030204" pitchFamily="34" charset="0"/>
          <a:ea typeface="+mj-ea"/>
          <a:cs typeface="+mj-cs"/>
        </a:defRPr>
      </a:lvl1pPr>
    </p:titleStyle>
    <p:body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0" kern="1200">
          <a:solidFill>
            <a:schemeClr val="tx1"/>
          </a:solidFill>
          <a:latin typeface="Calibri Light" panose="020F03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Calibri Light" panose="020F03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effectLst/>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pt-BR" altLang="en-US"/>
              <a:t>Programação Web II</a:t>
            </a:r>
            <a:endParaRPr lang="pt-BR" altLang="en-US"/>
          </a:p>
        </p:txBody>
      </p:sp>
      <p:sp>
        <p:nvSpPr>
          <p:cNvPr id="5" name="Subtitle 4"/>
          <p:cNvSpPr>
            <a:spLocks noGrp="1"/>
          </p:cNvSpPr>
          <p:nvPr>
            <p:ph type="subTitle" idx="1"/>
          </p:nvPr>
        </p:nvSpPr>
        <p:spPr/>
        <p:txBody>
          <a:bodyPr/>
          <a:lstStyle/>
          <a:p>
            <a:r>
              <a:rPr lang="en-US"/>
              <a:t>Comunicação entre navegador e aplicação</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ítulo 1"/>
          <p:cNvSpPr>
            <a:spLocks noGrp="1"/>
          </p:cNvSpPr>
          <p:nvPr>
            <p:ph type="title"/>
          </p:nvPr>
        </p:nvSpPr>
        <p:spPr/>
        <p:txBody>
          <a:bodyPr/>
          <a:p>
            <a:r>
              <a:rPr lang="pt-BR" altLang="en-US"/>
              <a:t>Comunicação entre navegador e aplicação</a:t>
            </a:r>
            <a:endParaRPr lang="pt-BR" altLang="en-US"/>
          </a:p>
        </p:txBody>
      </p:sp>
      <p:sp>
        <p:nvSpPr>
          <p:cNvPr id="3" name="Espaço Reservado para Conteúdo 2"/>
          <p:cNvSpPr>
            <a:spLocks noGrp="1"/>
          </p:cNvSpPr>
          <p:nvPr>
            <p:ph idx="1"/>
          </p:nvPr>
        </p:nvSpPr>
        <p:spPr/>
        <p:txBody>
          <a:bodyPr/>
          <a:p>
            <a:pPr algn="just"/>
            <a:r>
              <a:rPr lang="pt-BR" altLang="en-US">
                <a:sym typeface="+mn-ea"/>
              </a:rPr>
              <a:t>A comunicação entre o navegador e a aplicação web é crucial para criar experiências interativas e dinâmicas. Existem várias maneiras de realizar essa comunicação, cada uma com suas vantagens e casos de uso específicos.</a:t>
            </a:r>
            <a:endParaRPr lang="pt-BR" altLang="en-US"/>
          </a:p>
          <a:p>
            <a:pPr algn="just"/>
            <a:endParaRPr lang="pt-BR" altLang="en-US"/>
          </a:p>
          <a:p>
            <a:pPr algn="just"/>
            <a:r>
              <a:rPr lang="pt-BR" altLang="en-US"/>
              <a:t>Entender os diferentes métodos de comunicação entre o navegador e a aplicação web, explorando técnicas como requisições HTTP, AJAX, WebSockets e Server-Sent Events.</a:t>
            </a:r>
            <a:endParaRPr lang="pt-B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ítulo 1"/>
          <p:cNvSpPr>
            <a:spLocks noGrp="1"/>
          </p:cNvSpPr>
          <p:nvPr>
            <p:ph type="title"/>
          </p:nvPr>
        </p:nvSpPr>
        <p:spPr/>
        <p:txBody>
          <a:bodyPr/>
          <a:p>
            <a:r>
              <a:rPr lang="pt-BR" altLang="en-US"/>
              <a:t>Requisições HTTP</a:t>
            </a:r>
            <a:endParaRPr lang="pt-BR" altLang="en-US"/>
          </a:p>
        </p:txBody>
      </p:sp>
      <p:sp>
        <p:nvSpPr>
          <p:cNvPr id="3" name="Espaço Reservado para Conteúdo 2"/>
          <p:cNvSpPr>
            <a:spLocks noGrp="1"/>
          </p:cNvSpPr>
          <p:nvPr>
            <p:ph idx="1"/>
          </p:nvPr>
        </p:nvSpPr>
        <p:spPr/>
        <p:txBody>
          <a:bodyPr>
            <a:normAutofit fontScale="90000" lnSpcReduction="10000"/>
          </a:bodyPr>
          <a:p>
            <a:pPr algn="just">
              <a:buFont typeface="Arial" panose="020B0604020202020204" pitchFamily="34" charset="0"/>
            </a:pPr>
            <a:r>
              <a:rPr lang="pt-BR" altLang="en-US"/>
              <a:t>O </a:t>
            </a:r>
            <a:r>
              <a:rPr lang="pt-BR" altLang="en-US">
                <a:latin typeface="Consolas" panose="020B0609020204030204" charset="0"/>
                <a:cs typeface="Consolas" panose="020B0609020204030204" charset="0"/>
              </a:rPr>
              <a:t>Hypertext Transfer Protocol (HTTP)</a:t>
            </a:r>
            <a:r>
              <a:rPr lang="pt-BR" altLang="en-US"/>
              <a:t> é um protocolo de camada de aplicação essencial para a transmissão de documentos hipermídia, como o HTML. Ele foi desenvolvido para facilitar a comunicação entre navegadores web e servidores web, seguindo um modelo cliente-servidor clássico. O HTTP é um protocolo sem estado, o que significa que o servidor não mantém dados entre requisições.</a:t>
            </a:r>
            <a:endParaRPr lang="pt-BR" altLang="en-US"/>
          </a:p>
          <a:p>
            <a:pPr marL="457200" indent="-457200" algn="just">
              <a:buFont typeface="Arial" panose="020B0604020202020204" pitchFamily="34" charset="0"/>
              <a:buChar char="•"/>
            </a:pPr>
            <a:r>
              <a:rPr lang="pt-BR" altLang="en-US"/>
              <a:t>As requisições HTTP são a base da comunicação na web. Elas são usadas para carregar páginas, recursos estáticos e dinâmicos.</a:t>
            </a:r>
            <a:endParaRPr lang="pt-BR" altLang="en-US"/>
          </a:p>
          <a:p>
            <a:pPr marL="457200" indent="-457200" algn="just">
              <a:buFont typeface="Arial" panose="020B0604020202020204" pitchFamily="34" charset="0"/>
              <a:buChar char="•"/>
            </a:pPr>
            <a:r>
              <a:rPr lang="pt-BR" altLang="en-US"/>
              <a:t>Métodos HTTP comuns incluem </a:t>
            </a:r>
            <a:r>
              <a:rPr lang="pt-BR" altLang="en-US">
                <a:latin typeface="Consolas" panose="020B0609020204030204" charset="0"/>
                <a:cs typeface="Consolas" panose="020B0609020204030204" charset="0"/>
              </a:rPr>
              <a:t>GET</a:t>
            </a:r>
            <a:r>
              <a:rPr lang="pt-BR" altLang="en-US"/>
              <a:t> (para recuperar dados), </a:t>
            </a:r>
            <a:r>
              <a:rPr lang="pt-BR" altLang="en-US">
                <a:latin typeface="Consolas" panose="020B0609020204030204" charset="0"/>
                <a:cs typeface="Consolas" panose="020B0609020204030204" charset="0"/>
              </a:rPr>
              <a:t>POST</a:t>
            </a:r>
            <a:r>
              <a:rPr lang="pt-BR" altLang="en-US"/>
              <a:t> (para enviar dados), </a:t>
            </a:r>
            <a:r>
              <a:rPr lang="pt-BR" altLang="en-US">
                <a:latin typeface="Consolas" panose="020B0609020204030204" charset="0"/>
                <a:cs typeface="Consolas" panose="020B0609020204030204" charset="0"/>
              </a:rPr>
              <a:t>PUT</a:t>
            </a:r>
            <a:r>
              <a:rPr lang="pt-BR" altLang="en-US"/>
              <a:t> (para atualizar dados) e </a:t>
            </a:r>
            <a:r>
              <a:rPr lang="pt-BR" altLang="en-US">
                <a:latin typeface="Consolas" panose="020B0609020204030204" charset="0"/>
                <a:cs typeface="Consolas" panose="020B0609020204030204" charset="0"/>
              </a:rPr>
              <a:t>DELETE</a:t>
            </a:r>
            <a:r>
              <a:rPr lang="pt-BR" altLang="en-US"/>
              <a:t> (para excluir dados).</a:t>
            </a:r>
            <a:endParaRPr lang="pt-BR" altLang="en-US"/>
          </a:p>
          <a:p>
            <a:pPr marL="457200" indent="-457200" algn="just">
              <a:buFont typeface="Arial" panose="020B0604020202020204" pitchFamily="34" charset="0"/>
              <a:buChar char="•"/>
            </a:pPr>
            <a:r>
              <a:rPr lang="pt-BR" altLang="en-US">
                <a:latin typeface="Consolas" panose="020B0609020204030204" charset="0"/>
                <a:cs typeface="Consolas" panose="020B0609020204030204" charset="0"/>
              </a:rPr>
              <a:t>Exemplo prático</a:t>
            </a:r>
            <a:r>
              <a:rPr lang="pt-BR" altLang="en-US"/>
              <a:t>: Implementação de uma requisição </a:t>
            </a:r>
            <a:r>
              <a:rPr lang="pt-BR" altLang="en-US">
                <a:latin typeface="Consolas" panose="020B0609020204030204" charset="0"/>
                <a:cs typeface="Consolas" panose="020B0609020204030204" charset="0"/>
              </a:rPr>
              <a:t>AJAX</a:t>
            </a:r>
            <a:r>
              <a:rPr lang="pt-BR" altLang="en-US"/>
              <a:t> para carregar dados assincronamente em uma página.</a:t>
            </a:r>
            <a:endParaRPr lang="pt-B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ítulo 1"/>
          <p:cNvSpPr>
            <a:spLocks noGrp="1"/>
          </p:cNvSpPr>
          <p:nvPr>
            <p:ph type="title"/>
          </p:nvPr>
        </p:nvSpPr>
        <p:spPr/>
        <p:txBody>
          <a:bodyPr/>
          <a:p>
            <a:endParaRPr lang="pt-BR" altLang="en-US"/>
          </a:p>
        </p:txBody>
      </p:sp>
      <p:pic>
        <p:nvPicPr>
          <p:cNvPr id="4" name="Espaço Reservado para Conteúdo 3" descr="HTTP Vs HTTPS (www.tutorialsmate.com)"/>
          <p:cNvPicPr>
            <a:picLocks noChangeAspect="1"/>
          </p:cNvPicPr>
          <p:nvPr>
            <p:ph idx="1"/>
          </p:nvPr>
        </p:nvPicPr>
        <p:blipFill>
          <a:blip r:embed="rId1"/>
          <a:stretch>
            <a:fillRect/>
          </a:stretch>
        </p:blipFill>
        <p:spPr>
          <a:xfrm>
            <a:off x="3131820" y="479425"/>
            <a:ext cx="5547995" cy="58985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ítulo 1"/>
          <p:cNvSpPr>
            <a:spLocks noGrp="1"/>
          </p:cNvSpPr>
          <p:nvPr>
            <p:ph type="title"/>
          </p:nvPr>
        </p:nvSpPr>
        <p:spPr/>
        <p:txBody>
          <a:bodyPr/>
          <a:p>
            <a:r>
              <a:rPr lang="pt-BR" altLang="en-US"/>
              <a:t>AJAX (Asynchronous JavaScript and XML)</a:t>
            </a:r>
            <a:endParaRPr lang="pt-BR" altLang="en-US"/>
          </a:p>
        </p:txBody>
      </p:sp>
      <p:sp>
        <p:nvSpPr>
          <p:cNvPr id="3" name="Espaço Reservado para Conteúdo 2"/>
          <p:cNvSpPr>
            <a:spLocks noGrp="1"/>
          </p:cNvSpPr>
          <p:nvPr>
            <p:ph idx="1"/>
          </p:nvPr>
        </p:nvSpPr>
        <p:spPr/>
        <p:txBody>
          <a:bodyPr>
            <a:normAutofit lnSpcReduction="10000"/>
          </a:bodyPr>
          <a:p>
            <a:pPr algn="just"/>
            <a:r>
              <a:rPr lang="pt-BR" altLang="en-US"/>
              <a:t>Ajax é uma técnica de </a:t>
            </a:r>
            <a:r>
              <a:rPr lang="pt-BR" altLang="en-US">
                <a:latin typeface="Consolas" panose="020B0609020204030204" charset="0"/>
                <a:cs typeface="Consolas" panose="020B0609020204030204" charset="0"/>
              </a:rPr>
              <a:t>comunicação assíncrona</a:t>
            </a:r>
            <a:r>
              <a:rPr lang="pt-BR" altLang="en-US"/>
              <a:t> entre o navegador e o servidor, permitindo </a:t>
            </a:r>
            <a:r>
              <a:rPr lang="pt-BR" altLang="en-US">
                <a:latin typeface="Consolas" panose="020B0609020204030204" charset="0"/>
                <a:cs typeface="Consolas" panose="020B0609020204030204" charset="0"/>
              </a:rPr>
              <a:t>atualizações parciais de conteúdo</a:t>
            </a:r>
            <a:r>
              <a:rPr lang="pt-BR" altLang="en-US"/>
              <a:t> em uma página sem recarregá-la completamente. Isso melhora a experiência do usuário, tornando as aplicações mais rápidas e responsivas.</a:t>
            </a:r>
            <a:endParaRPr lang="pt-BR" altLang="en-US"/>
          </a:p>
          <a:p>
            <a:pPr marL="457200" indent="-457200" algn="just">
              <a:buFont typeface="Arial" panose="020B0604020202020204" pitchFamily="34" charset="0"/>
              <a:buChar char="•"/>
            </a:pPr>
            <a:r>
              <a:rPr lang="pt-BR" altLang="en-US"/>
              <a:t>AJAX permite a atualização de partes específicas de uma página sem a necessidade de recarregar toda a página.</a:t>
            </a:r>
            <a:endParaRPr lang="pt-BR" altLang="en-US"/>
          </a:p>
          <a:p>
            <a:pPr marL="457200" indent="-457200" algn="just">
              <a:buFont typeface="Arial" panose="020B0604020202020204" pitchFamily="34" charset="0"/>
              <a:buChar char="•"/>
            </a:pPr>
            <a:r>
              <a:rPr lang="pt-BR" altLang="en-US"/>
              <a:t>Utiliza </a:t>
            </a:r>
            <a:r>
              <a:rPr lang="pt-BR" altLang="en-US">
                <a:latin typeface="Consolas" panose="020B0609020204030204" charset="0"/>
                <a:cs typeface="Consolas" panose="020B0609020204030204" charset="0"/>
              </a:rPr>
              <a:t>XMLHttpRequest</a:t>
            </a:r>
            <a:r>
              <a:rPr lang="pt-BR" altLang="en-US"/>
              <a:t> ou a </a:t>
            </a:r>
            <a:r>
              <a:rPr lang="pt-BR" altLang="en-US">
                <a:latin typeface="Consolas" panose="020B0609020204030204" charset="0"/>
                <a:cs typeface="Consolas" panose="020B0609020204030204" charset="0"/>
              </a:rPr>
              <a:t>API Fetch</a:t>
            </a:r>
            <a:r>
              <a:rPr lang="pt-BR" altLang="en-US"/>
              <a:t> para realizar requisições assíncronas.</a:t>
            </a:r>
            <a:endParaRPr lang="pt-BR" altLang="en-US"/>
          </a:p>
          <a:p>
            <a:pPr marL="457200" indent="-457200" algn="just">
              <a:buFont typeface="Arial" panose="020B0604020202020204" pitchFamily="34" charset="0"/>
              <a:buChar char="•"/>
            </a:pPr>
            <a:r>
              <a:rPr lang="pt-BR" altLang="en-US"/>
              <a:t>Demonstração prática: Desenvolvimento de uma aplicação que utiliza AJAX para atualizar dinamicamente o conteúdo da página.</a:t>
            </a:r>
            <a:endParaRPr lang="pt-B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ítulo 1"/>
          <p:cNvSpPr>
            <a:spLocks noGrp="1"/>
          </p:cNvSpPr>
          <p:nvPr>
            <p:ph type="title"/>
          </p:nvPr>
        </p:nvSpPr>
        <p:spPr/>
        <p:txBody>
          <a:bodyPr/>
          <a:p>
            <a:r>
              <a:rPr lang="pt-BR" altLang="en-US"/>
              <a:t>Ajax</a:t>
            </a:r>
            <a:endParaRPr lang="pt-BR" altLang="en-US"/>
          </a:p>
        </p:txBody>
      </p:sp>
      <p:pic>
        <p:nvPicPr>
          <p:cNvPr id="4" name="Espaço Reservado para Conteúdo 3" descr="figure_2_asynchronous"/>
          <p:cNvPicPr>
            <a:picLocks noChangeAspect="1"/>
          </p:cNvPicPr>
          <p:nvPr>
            <p:ph idx="1"/>
          </p:nvPr>
        </p:nvPicPr>
        <p:blipFill>
          <a:blip r:embed="rId1"/>
          <a:stretch>
            <a:fillRect/>
          </a:stretch>
        </p:blipFill>
        <p:spPr>
          <a:xfrm>
            <a:off x="1831975" y="1635125"/>
            <a:ext cx="8147050" cy="45421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ítulo 1"/>
          <p:cNvSpPr>
            <a:spLocks noGrp="1"/>
          </p:cNvSpPr>
          <p:nvPr>
            <p:ph type="title"/>
          </p:nvPr>
        </p:nvSpPr>
        <p:spPr/>
        <p:txBody>
          <a:bodyPr/>
          <a:p>
            <a:r>
              <a:rPr lang="pt-BR" altLang="en-US"/>
              <a:t>Application Programming Interfaces (APIs)</a:t>
            </a:r>
            <a:endParaRPr lang="pt-BR" altLang="en-US"/>
          </a:p>
        </p:txBody>
      </p:sp>
      <p:sp>
        <p:nvSpPr>
          <p:cNvPr id="3" name="Espaço Reservado para Conteúdo 2"/>
          <p:cNvSpPr>
            <a:spLocks noGrp="1"/>
          </p:cNvSpPr>
          <p:nvPr>
            <p:ph idx="1"/>
          </p:nvPr>
        </p:nvSpPr>
        <p:spPr/>
        <p:txBody>
          <a:bodyPr/>
          <a:p>
            <a:pPr algn="just"/>
            <a:r>
              <a:rPr lang="pt-BR" altLang="en-US"/>
              <a:t>são conjuntos de regras e protocolos que permitem que diferentes componentes de uma aplicação interajam entre si. Essas interações podem ser realizadas através de chamadas de API, onde um cliente envia uma solicitação para um servidor, que responde com dados ou ações específicas.</a:t>
            </a:r>
            <a:endParaRPr lang="pt-BR" altLang="en-US"/>
          </a:p>
          <a:p>
            <a:pPr algn="just"/>
            <a:endParaRPr lang="pt-BR" altLang="en-US"/>
          </a:p>
          <a:p>
            <a:pPr algn="just"/>
            <a:r>
              <a:rPr lang="pt-BR" altLang="en-US">
                <a:latin typeface="Consolas" panose="020B0609020204030204" charset="0"/>
                <a:cs typeface="Consolas" panose="020B0609020204030204" charset="0"/>
              </a:rPr>
              <a:t>Objetivo</a:t>
            </a:r>
            <a:r>
              <a:rPr lang="pt-BR" altLang="en-US"/>
              <a:t>: Facilitar a integração e interação entre sistemas, permitindo que desenvolvedores utilizem funcionalidades específicas sem a necessidade de entender completamente a implementação interna.</a:t>
            </a:r>
            <a:endParaRPr lang="pt-B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ítulo 1"/>
          <p:cNvSpPr>
            <a:spLocks noGrp="1"/>
          </p:cNvSpPr>
          <p:nvPr>
            <p:ph type="title"/>
          </p:nvPr>
        </p:nvSpPr>
        <p:spPr/>
        <p:txBody>
          <a:bodyPr/>
          <a:p>
            <a:r>
              <a:rPr lang="pt-BR" altLang="en-US">
                <a:sym typeface="+mn-ea"/>
              </a:rPr>
              <a:t>Application Programming Interfaces (APIs)</a:t>
            </a:r>
            <a:endParaRPr lang="pt-BR" altLang="en-US"/>
          </a:p>
        </p:txBody>
      </p:sp>
      <p:pic>
        <p:nvPicPr>
          <p:cNvPr id="10" name="Espaço Reservado para Conteúdo 9" descr="1_3h95bN2_xe-eitwHh_Ygvw"/>
          <p:cNvPicPr>
            <a:picLocks noChangeAspect="1"/>
          </p:cNvPicPr>
          <p:nvPr>
            <p:ph idx="1"/>
          </p:nvPr>
        </p:nvPicPr>
        <p:blipFill>
          <a:blip r:embed="rId1"/>
          <a:stretch>
            <a:fillRect/>
          </a:stretch>
        </p:blipFill>
        <p:spPr>
          <a:xfrm>
            <a:off x="2066290" y="1584325"/>
            <a:ext cx="8060055" cy="49923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ítulo 1"/>
          <p:cNvSpPr>
            <a:spLocks noGrp="1"/>
          </p:cNvSpPr>
          <p:nvPr>
            <p:ph type="title"/>
          </p:nvPr>
        </p:nvSpPr>
        <p:spPr/>
        <p:txBody>
          <a:bodyPr/>
          <a:p>
            <a:r>
              <a:rPr lang="pt-BR" altLang="en-US"/>
              <a:t>WebSockets</a:t>
            </a:r>
            <a:endParaRPr lang="pt-BR" altLang="en-US"/>
          </a:p>
        </p:txBody>
      </p:sp>
      <p:sp>
        <p:nvSpPr>
          <p:cNvPr id="3" name="Espaço Reservado para Conteúdo 2"/>
          <p:cNvSpPr>
            <a:spLocks noGrp="1"/>
          </p:cNvSpPr>
          <p:nvPr>
            <p:ph idx="1"/>
          </p:nvPr>
        </p:nvSpPr>
        <p:spPr/>
        <p:txBody>
          <a:bodyPr>
            <a:normAutofit lnSpcReduction="20000"/>
          </a:bodyPr>
          <a:p>
            <a:pPr algn="just">
              <a:buFont typeface="Arial" panose="020B0604020202020204" pitchFamily="34" charset="0"/>
            </a:pPr>
            <a:r>
              <a:rPr lang="pt-BR" altLang="en-US"/>
              <a:t>O WebSocket é um protocolo de </a:t>
            </a:r>
            <a:r>
              <a:rPr lang="pt-BR" altLang="en-US">
                <a:latin typeface="Consolas" panose="020B0609020204030204" charset="0"/>
                <a:cs typeface="Consolas" panose="020B0609020204030204" charset="0"/>
              </a:rPr>
              <a:t>comunicação bidirecional</a:t>
            </a:r>
            <a:r>
              <a:rPr lang="pt-BR" altLang="en-US"/>
              <a:t> que permite canais de comunicação de duas vias </a:t>
            </a:r>
            <a:r>
              <a:rPr lang="pt-BR" altLang="en-US">
                <a:latin typeface="Consolas" panose="020B0609020204030204" charset="0"/>
                <a:cs typeface="Consolas" panose="020B0609020204030204" charset="0"/>
              </a:rPr>
              <a:t>simultâneas</a:t>
            </a:r>
            <a:r>
              <a:rPr lang="pt-BR" altLang="en-US"/>
              <a:t> por meio de uma única conexão TCP (Transmission Control Protocol). Como Funcionam os WebSockets:</a:t>
            </a:r>
            <a:endParaRPr lang="pt-BR" altLang="en-US"/>
          </a:p>
          <a:p>
            <a:pPr marL="457200" indent="-457200" algn="just">
              <a:buFont typeface="Arial" panose="020B0604020202020204" pitchFamily="34" charset="0"/>
              <a:buChar char="•"/>
            </a:pPr>
            <a:r>
              <a:rPr lang="pt-BR" altLang="en-US">
                <a:latin typeface="Consolas" panose="020B0609020204030204" charset="0"/>
                <a:cs typeface="Consolas" panose="020B0609020204030204" charset="0"/>
              </a:rPr>
              <a:t>Aperto de Mão (Handshake)</a:t>
            </a:r>
            <a:r>
              <a:rPr lang="pt-BR" altLang="en-US"/>
              <a:t>: Inicia-se com um aperto de mão HTTP, onde o cliente solicita uma atualização para o protocolo WebSocket.</a:t>
            </a:r>
            <a:endParaRPr lang="pt-BR" altLang="en-US"/>
          </a:p>
          <a:p>
            <a:pPr marL="457200" indent="-457200" algn="just">
              <a:buFont typeface="Arial" panose="020B0604020202020204" pitchFamily="34" charset="0"/>
              <a:buChar char="•"/>
            </a:pPr>
            <a:r>
              <a:rPr lang="pt-BR" altLang="en-US">
                <a:latin typeface="Consolas" panose="020B0609020204030204" charset="0"/>
                <a:cs typeface="Consolas" panose="020B0609020204030204" charset="0"/>
              </a:rPr>
              <a:t>Conexão Persistente</a:t>
            </a:r>
            <a:r>
              <a:rPr lang="pt-BR" altLang="en-US"/>
              <a:t>: Uma vez estabelecida, a conexão permanece aberta, permitindo a troca contínua de mensagens.</a:t>
            </a:r>
            <a:endParaRPr lang="pt-BR" altLang="en-US"/>
          </a:p>
          <a:p>
            <a:pPr marL="457200" indent="-457200" algn="just">
              <a:buFont typeface="Arial" panose="020B0604020202020204" pitchFamily="34" charset="0"/>
              <a:buChar char="•"/>
            </a:pPr>
            <a:r>
              <a:rPr lang="pt-BR" altLang="en-US">
                <a:latin typeface="Consolas" panose="020B0609020204030204" charset="0"/>
                <a:cs typeface="Consolas" panose="020B0609020204030204" charset="0"/>
              </a:rPr>
              <a:t>Mensagens em Tempo Real</a:t>
            </a:r>
            <a:r>
              <a:rPr lang="pt-BR" altLang="en-US"/>
              <a:t>: Ambos, cliente e servidor, podem enviar mensagens em qualquer momento, permitindo atualizações instantâneas.</a:t>
            </a:r>
            <a:endParaRPr lang="pt-B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ítulo 1"/>
          <p:cNvSpPr>
            <a:spLocks noGrp="1"/>
          </p:cNvSpPr>
          <p:nvPr>
            <p:ph type="title"/>
          </p:nvPr>
        </p:nvSpPr>
        <p:spPr/>
        <p:txBody>
          <a:bodyPr/>
          <a:p>
            <a:r>
              <a:rPr lang="pt-BR" altLang="en-US"/>
              <a:t>Funcionamento e Uso do WebSocket</a:t>
            </a:r>
            <a:endParaRPr lang="pt-BR" altLang="en-US"/>
          </a:p>
        </p:txBody>
      </p:sp>
      <p:sp>
        <p:nvSpPr>
          <p:cNvPr id="3" name="Espaço Reservado para Conteúdo 2"/>
          <p:cNvSpPr>
            <a:spLocks noGrp="1"/>
          </p:cNvSpPr>
          <p:nvPr>
            <p:ph idx="1"/>
          </p:nvPr>
        </p:nvSpPr>
        <p:spPr/>
        <p:txBody>
          <a:bodyPr/>
          <a:p>
            <a:pPr marL="457200" indent="-457200" algn="just">
              <a:buFont typeface="Arial" panose="020B0604020202020204" pitchFamily="34" charset="0"/>
              <a:buChar char="•"/>
            </a:pPr>
            <a:r>
              <a:rPr lang="pt-BR" altLang="en-US">
                <a:latin typeface="Consolas" panose="020B0609020204030204" charset="0"/>
                <a:cs typeface="Consolas" panose="020B0609020204030204" charset="0"/>
              </a:rPr>
              <a:t>Funcionamento</a:t>
            </a:r>
            <a:r>
              <a:rPr lang="pt-BR" altLang="en-US"/>
              <a:t>: O WebSocket estabelece uma conexão persistente entre cliente e servidor, permitindo a troca contínua de mensagens enquanto mantém a conexão aberta.</a:t>
            </a:r>
            <a:endParaRPr lang="pt-BR" altLang="en-US"/>
          </a:p>
          <a:p>
            <a:pPr marL="457200" indent="-457200" algn="just">
              <a:buFont typeface="Arial" panose="020B0604020202020204" pitchFamily="34" charset="0"/>
              <a:buChar char="•"/>
            </a:pPr>
            <a:r>
              <a:rPr lang="pt-BR" altLang="en-US">
                <a:latin typeface="Consolas" panose="020B0609020204030204" charset="0"/>
                <a:cs typeface="Consolas" panose="020B0609020204030204" charset="0"/>
              </a:rPr>
              <a:t>Aplicações</a:t>
            </a:r>
            <a:r>
              <a:rPr lang="pt-BR" altLang="en-US"/>
              <a:t>: O WebSocket é amplamente utilizado em aplicações que requerem comunicação em tempo real, como chats ao vivo, transmissão de dados em tempo real (como pontuações esportivas), colaboração multiplayer e sincronização em tempo real entre backend e frontend.</a:t>
            </a:r>
            <a:endParaRPr lang="pt-B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ítulo 1"/>
          <p:cNvSpPr>
            <a:spLocks noGrp="1"/>
          </p:cNvSpPr>
          <p:nvPr>
            <p:ph type="title"/>
          </p:nvPr>
        </p:nvSpPr>
        <p:spPr/>
        <p:txBody>
          <a:bodyPr/>
          <a:p>
            <a:r>
              <a:rPr lang="pt-BR" altLang="en-US"/>
              <a:t>WebSockets</a:t>
            </a:r>
            <a:endParaRPr lang="pt-BR" altLang="en-US"/>
          </a:p>
        </p:txBody>
      </p:sp>
      <p:pic>
        <p:nvPicPr>
          <p:cNvPr id="4" name="Espaço Reservado para Conteúdo 3" descr="websocket_representation-1"/>
          <p:cNvPicPr>
            <a:picLocks noChangeAspect="1"/>
          </p:cNvPicPr>
          <p:nvPr>
            <p:ph idx="1"/>
          </p:nvPr>
        </p:nvPicPr>
        <p:blipFill>
          <a:blip r:embed="rId1"/>
          <a:stretch>
            <a:fillRect/>
          </a:stretch>
        </p:blipFill>
        <p:spPr>
          <a:xfrm>
            <a:off x="1758950" y="1668780"/>
            <a:ext cx="8293100" cy="46653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ítulo 1"/>
          <p:cNvSpPr>
            <a:spLocks noGrp="1"/>
          </p:cNvSpPr>
          <p:nvPr>
            <p:ph type="title"/>
          </p:nvPr>
        </p:nvSpPr>
        <p:spPr/>
        <p:txBody>
          <a:bodyPr/>
          <a:p>
            <a:r>
              <a:rPr lang="pt-BR" altLang="en-US"/>
              <a:t>Server-Sent Events (SSE)</a:t>
            </a:r>
            <a:endParaRPr lang="pt-BR" altLang="en-US"/>
          </a:p>
        </p:txBody>
      </p:sp>
      <p:sp>
        <p:nvSpPr>
          <p:cNvPr id="3" name="Espaço Reservado para Conteúdo 2"/>
          <p:cNvSpPr>
            <a:spLocks noGrp="1"/>
          </p:cNvSpPr>
          <p:nvPr>
            <p:ph idx="1"/>
          </p:nvPr>
        </p:nvSpPr>
        <p:spPr/>
        <p:txBody>
          <a:bodyPr>
            <a:normAutofit/>
          </a:bodyPr>
          <a:p>
            <a:pPr algn="just"/>
            <a:r>
              <a:rPr lang="pt-BR" altLang="en-US"/>
              <a:t>Os Server-Sent Events (SSE) são uma tecnologia web que permite que os servidores enviem dados para os clientes de </a:t>
            </a:r>
            <a:r>
              <a:rPr lang="pt-BR" altLang="en-US" i="1"/>
              <a:t>forma assíncrona</a:t>
            </a:r>
            <a:r>
              <a:rPr lang="pt-BR" altLang="en-US"/>
              <a:t>, em </a:t>
            </a:r>
            <a:r>
              <a:rPr lang="pt-BR" altLang="en-US" i="1"/>
              <a:t>tempo real</a:t>
            </a:r>
            <a:r>
              <a:rPr lang="pt-BR" altLang="en-US"/>
              <a:t>, sobre uma única conexão HTTP. </a:t>
            </a:r>
            <a:endParaRPr lang="pt-BR" altLang="en-US"/>
          </a:p>
          <a:p>
            <a:pPr marL="457200" indent="-457200" algn="just">
              <a:buFont typeface="Arial" panose="020B0604020202020204" pitchFamily="34" charset="0"/>
              <a:buChar char="•"/>
            </a:pPr>
            <a:r>
              <a:rPr lang="pt-BR" altLang="en-US">
                <a:latin typeface="Consolas" panose="020B0609020204030204" charset="0"/>
                <a:cs typeface="Consolas" panose="020B0609020204030204" charset="0"/>
              </a:rPr>
              <a:t>Estabelecimento da Conexão</a:t>
            </a:r>
            <a:r>
              <a:rPr lang="pt-BR" altLang="en-US"/>
              <a:t>: O cliente inicia uma requisição HTTP para um endpoint SSE.</a:t>
            </a:r>
            <a:endParaRPr lang="pt-BR" altLang="en-US"/>
          </a:p>
          <a:p>
            <a:pPr marL="457200" indent="-457200" algn="just">
              <a:buFont typeface="Arial" panose="020B0604020202020204" pitchFamily="34" charset="0"/>
              <a:buChar char="•"/>
            </a:pPr>
            <a:r>
              <a:rPr lang="pt-BR" altLang="en-US">
                <a:latin typeface="Consolas" panose="020B0609020204030204" charset="0"/>
                <a:cs typeface="Consolas" panose="020B0609020204030204" charset="0"/>
              </a:rPr>
              <a:t>Formato de Event Stream</a:t>
            </a:r>
            <a:r>
              <a:rPr lang="pt-BR" altLang="en-US"/>
              <a:t>: O servidor responde com um fluxo de eventos (Event Stream) no formato específico.</a:t>
            </a:r>
            <a:endParaRPr lang="pt-BR" altLang="en-US"/>
          </a:p>
          <a:p>
            <a:pPr marL="457200" indent="-457200" algn="just">
              <a:buFont typeface="Arial" panose="020B0604020202020204" pitchFamily="34" charset="0"/>
              <a:buChar char="•"/>
            </a:pPr>
            <a:r>
              <a:rPr lang="pt-BR" altLang="en-US">
                <a:latin typeface="Consolas" panose="020B0609020204030204" charset="0"/>
                <a:cs typeface="Consolas" panose="020B0609020204030204" charset="0"/>
              </a:rPr>
              <a:t>Atualizações Assíncronas</a:t>
            </a:r>
            <a:r>
              <a:rPr lang="pt-BR" altLang="en-US"/>
              <a:t>:O servidor pode enviar eventos para o cliente a qualquer momento, mantendo a conexão aberta.</a:t>
            </a:r>
            <a:endParaRPr lang="pt-B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ítulo 1"/>
          <p:cNvSpPr>
            <a:spLocks noGrp="1"/>
          </p:cNvSpPr>
          <p:nvPr>
            <p:ph type="title"/>
          </p:nvPr>
        </p:nvSpPr>
        <p:spPr/>
        <p:txBody>
          <a:bodyPr/>
          <a:p>
            <a:r>
              <a:rPr lang="pt-BR" altLang="en-US"/>
              <a:t>Uso e Aplicações do SSE</a:t>
            </a:r>
            <a:endParaRPr lang="pt-BR" altLang="en-US"/>
          </a:p>
        </p:txBody>
      </p:sp>
      <p:sp>
        <p:nvSpPr>
          <p:cNvPr id="3" name="Espaço Reservado para Conteúdo 2"/>
          <p:cNvSpPr>
            <a:spLocks noGrp="1"/>
          </p:cNvSpPr>
          <p:nvPr>
            <p:ph idx="1"/>
          </p:nvPr>
        </p:nvSpPr>
        <p:spPr/>
        <p:txBody>
          <a:bodyPr>
            <a:normAutofit/>
          </a:bodyPr>
          <a:p>
            <a:pPr marL="457200" indent="-457200" algn="just">
              <a:buFont typeface="Arial" panose="020B0604020202020204" pitchFamily="34" charset="0"/>
              <a:buChar char="•"/>
            </a:pPr>
            <a:r>
              <a:rPr lang="pt-BR" altLang="en-US">
                <a:latin typeface="Consolas" panose="020B0609020204030204" charset="0"/>
                <a:cs typeface="Consolas" panose="020B0609020204030204" charset="0"/>
              </a:rPr>
              <a:t>Aplicações em Tempo Real</a:t>
            </a:r>
            <a:r>
              <a:rPr lang="pt-BR" altLang="en-US"/>
              <a:t>: SSE é amplamente utilizado em aplicações que necessitam de atualizações contínuas e em tempo real, como feeds de notícias ao vivo, sistemas de monitoramento em tempo real e notificações instantâneas.</a:t>
            </a:r>
            <a:endParaRPr lang="pt-BR" altLang="en-US"/>
          </a:p>
          <a:p>
            <a:pPr marL="457200" indent="-457200" algn="just">
              <a:buFont typeface="Arial" panose="020B0604020202020204" pitchFamily="34" charset="0"/>
              <a:buChar char="•"/>
            </a:pPr>
            <a:r>
              <a:rPr lang="pt-BR" altLang="en-US">
                <a:latin typeface="Consolas" panose="020B0609020204030204" charset="0"/>
                <a:cs typeface="Consolas" panose="020B0609020204030204" charset="0"/>
              </a:rPr>
              <a:t>Compatibilidade</a:t>
            </a:r>
            <a:r>
              <a:rPr lang="pt-BR" altLang="en-US"/>
              <a:t>: Embora seja suportado pela maioria dos navegadores modernos, é importante verificar a compatibilidade com o navegador alvo antes de implementar SSE em um projeto.</a:t>
            </a:r>
            <a:endParaRPr lang="pt-B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ítulo 1"/>
          <p:cNvSpPr>
            <a:spLocks noGrp="1"/>
          </p:cNvSpPr>
          <p:nvPr>
            <p:ph type="title"/>
          </p:nvPr>
        </p:nvSpPr>
        <p:spPr/>
        <p:txBody>
          <a:bodyPr>
            <a:normAutofit/>
          </a:bodyPr>
          <a:p>
            <a:r>
              <a:rPr lang="pt-BR" altLang="en-US">
                <a:sym typeface="+mn-ea"/>
              </a:rPr>
              <a:t>Server-Sent Events (SSE)</a:t>
            </a:r>
            <a:endParaRPr lang="pt-BR" altLang="en-US"/>
          </a:p>
        </p:txBody>
      </p:sp>
      <p:pic>
        <p:nvPicPr>
          <p:cNvPr id="4" name="Espaço Reservado para Conteúdo 3" descr="0_fZqr0oanvckFPpwm"/>
          <p:cNvPicPr>
            <a:picLocks noChangeAspect="1"/>
          </p:cNvPicPr>
          <p:nvPr>
            <p:ph idx="1"/>
          </p:nvPr>
        </p:nvPicPr>
        <p:blipFill>
          <a:blip r:embed="rId1"/>
          <a:stretch>
            <a:fillRect/>
          </a:stretch>
        </p:blipFill>
        <p:spPr>
          <a:xfrm>
            <a:off x="2635250" y="1453515"/>
            <a:ext cx="6540500" cy="51339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Calibri"/>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4431</Words>
  <Application>WPS Presentation</Application>
  <PresentationFormat>宽屏</PresentationFormat>
  <Paragraphs>62</Paragraphs>
  <Slides>14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Arial</vt:lpstr>
      <vt:lpstr>SimSun</vt:lpstr>
      <vt:lpstr>Wingdings</vt:lpstr>
      <vt:lpstr>Calibri Light</vt:lpstr>
      <vt:lpstr>Microsoft YaHei</vt:lpstr>
      <vt:lpstr>Arial Unicode MS</vt:lpstr>
      <vt:lpstr>Calibri</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Jacques Simões</cp:lastModifiedBy>
  <cp:revision>3</cp:revision>
  <dcterms:created xsi:type="dcterms:W3CDTF">2024-02-29T21:33:15Z</dcterms:created>
  <dcterms:modified xsi:type="dcterms:W3CDTF">2024-03-01T04:05:54Z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1046-12.2.0.13489</vt:lpwstr>
  </property>
  <property fmtid="{D5CDD505-2E9C-101B-9397-08002B2CF9AE}" pid="3" name="ICV">
    <vt:lpwstr>D3621B3E179A4D45AB829F1ABBC1BD38_11</vt:lpwstr>
  </property>
</Properties>
</file>