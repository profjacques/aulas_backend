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altLang="en-US"/>
              <a:t>Programação Web II</a:t>
            </a:r>
            <a:endParaRPr lang="pt-BR" alt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Persistência em bancos de dados</a:t>
            </a:r>
            <a:r>
              <a:rPr lang="pt-BR" altLang="en-US"/>
              <a:t>:</a:t>
            </a:r>
            <a:r>
              <a:rPr lang="en-US"/>
              <a:t> Database-first;</a:t>
            </a:r>
            <a:r>
              <a:rPr lang="pt-BR" altLang="en-US"/>
              <a:t> Model-first, Code-first e Migrations; e Mapeamento objeto-relacional (ORM).</a:t>
            </a:r>
            <a:endParaRPr lang="pt-B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1. Introdução ao Database-First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pPr algn="just"/>
            <a:r>
              <a:rPr lang="pt-BR" altLang="en-US"/>
              <a:t>Database-First é uma abordagem de desenvolvimento onde o banco de dados é criado antes da lógica de aplicação. Ou seja, primeiro você define as tabelas, colunas e relações do banco de dados, para então construir a aplicação em torno dessa estrutura.</a:t>
            </a:r>
            <a:endParaRPr lang="pt-BR" altLang="en-US"/>
          </a:p>
          <a:p>
            <a:pPr algn="just"/>
            <a:endParaRPr lang="pt-BR" altLang="en-US"/>
          </a:p>
          <a:p>
            <a:pPr algn="just"/>
            <a:r>
              <a:rPr lang="pt-BR" altLang="en-US"/>
              <a:t>Essa abordagem é ideal quando o banco de dados já existe, ou se há uma necessidade de alta precisão e controle sobre os dados. É muito usada em ambientes corporativos ou de missão crítica, onde consistência e desempenho do banco são prioritários.</a:t>
            </a:r>
            <a:endParaRPr lang="pt-BR" altLang="en-US"/>
          </a:p>
          <a:p>
            <a:pPr algn="just"/>
            <a:endParaRPr lang="pt-BR" altLang="en-US"/>
          </a:p>
          <a:p>
            <a:pPr algn="just"/>
            <a:r>
              <a:rPr lang="pt-BR" altLang="en-US"/>
              <a:t>Exemplo: Imagine uma aplicação de gerenciamento de funcionários. Em Database-First, você primeiro cria um banco de dados que contém tabelas como </a:t>
            </a:r>
            <a:r>
              <a:rPr lang="pt-BR" altLang="en-US" i="1"/>
              <a:t>Funcionario</a:t>
            </a:r>
            <a:r>
              <a:rPr lang="pt-BR" altLang="en-US"/>
              <a:t>, </a:t>
            </a:r>
            <a:r>
              <a:rPr lang="pt-BR" altLang="en-US" i="1"/>
              <a:t>Departamento</a:t>
            </a:r>
            <a:r>
              <a:rPr lang="pt-BR" altLang="en-US"/>
              <a:t>, </a:t>
            </a:r>
            <a:r>
              <a:rPr lang="pt-BR" altLang="en-US" i="1"/>
              <a:t>Cargo</a:t>
            </a:r>
            <a:r>
              <a:rPr lang="pt-BR" altLang="en-US"/>
              <a:t>, etc., definindo colunas e relações entre elas antes de escrever o código da aplicação.</a:t>
            </a:r>
            <a:endParaRPr lang="pt-B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2. Database-First vs Code-First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pPr algn="just"/>
            <a:r>
              <a:rPr lang="pt-BR" altLang="en-US" b="1"/>
              <a:t>Database-First</a:t>
            </a:r>
            <a:r>
              <a:rPr lang="pt-BR" altLang="en-US"/>
              <a:t>: Prioriza o design do banco de dados antes do código. Essa abordagem é excelente para ambientes com muitos dados e onde se deseja um controle detalhado da estrutura do banco.</a:t>
            </a:r>
            <a:endParaRPr lang="pt-BR" altLang="en-US"/>
          </a:p>
          <a:p>
            <a:pPr algn="just"/>
            <a:r>
              <a:rPr lang="pt-BR" altLang="en-US" b="1"/>
              <a:t>Code-First</a:t>
            </a:r>
            <a:r>
              <a:rPr lang="pt-BR" altLang="en-US"/>
              <a:t>: Prioriza o desenvolvimento da aplicação e permite que o banco seja gerado automaticamente a partir do código. É útil em projetos menores ou mais dinâmicos, onde o esquema do banco de dados pode mudar rapidamente.</a:t>
            </a:r>
            <a:endParaRPr lang="pt-BR" altLang="en-US"/>
          </a:p>
          <a:p>
            <a:pPr algn="just"/>
            <a:r>
              <a:rPr lang="pt-BR" altLang="en-US" b="1"/>
              <a:t>Exemplo Comparativo:</a:t>
            </a:r>
            <a:endParaRPr lang="pt-BR" altLang="en-US" b="1"/>
          </a:p>
          <a:p>
            <a:pPr algn="just"/>
            <a:endParaRPr lang="pt-BR" altLang="en-US"/>
          </a:p>
          <a:p>
            <a:pPr algn="just"/>
            <a:r>
              <a:rPr lang="pt-BR" altLang="en-US"/>
              <a:t>Em Database-First, você projeta a tabela </a:t>
            </a:r>
            <a:r>
              <a:rPr lang="pt-BR" altLang="en-US" i="1"/>
              <a:t>Cliente </a:t>
            </a:r>
            <a:r>
              <a:rPr lang="pt-BR" altLang="en-US"/>
              <a:t>com campos como </a:t>
            </a:r>
            <a:r>
              <a:rPr lang="pt-BR" altLang="en-US" i="1"/>
              <a:t>ID</a:t>
            </a:r>
            <a:r>
              <a:rPr lang="pt-BR" altLang="en-US"/>
              <a:t>, </a:t>
            </a:r>
            <a:r>
              <a:rPr lang="pt-BR" altLang="en-US" i="1"/>
              <a:t>Nome</a:t>
            </a:r>
            <a:r>
              <a:rPr lang="pt-BR" altLang="en-US"/>
              <a:t>, </a:t>
            </a:r>
            <a:r>
              <a:rPr lang="pt-BR" altLang="en-US" i="1"/>
              <a:t>Email</a:t>
            </a:r>
            <a:r>
              <a:rPr lang="pt-BR" altLang="en-US"/>
              <a:t>, etc., antes de escrever qualquer código.</a:t>
            </a:r>
            <a:endParaRPr lang="pt-BR" altLang="en-US"/>
          </a:p>
          <a:p>
            <a:pPr algn="just"/>
            <a:r>
              <a:rPr lang="pt-BR" altLang="en-US"/>
              <a:t>Em Code-First, você criaria uma classe Cliente no código e deixaria a estrutura do banco ser gerada automaticamente com base nessa classe.</a:t>
            </a:r>
            <a:endParaRPr lang="pt-B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3. Arquitetura do Database-First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pPr algn="just"/>
            <a:r>
              <a:rPr lang="pt-BR" altLang="en-US" b="1"/>
              <a:t>3.1. Desenvolvimento do Banco de Dados:</a:t>
            </a:r>
            <a:endParaRPr lang="pt-BR" altLang="en-US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altLang="en-US"/>
              <a:t>Primeiramente, é projetado o banco de dados, especificando todas as tabelas, colunas, chaves primárias e estrangeiras.</a:t>
            </a:r>
            <a:endParaRPr lang="pt-BR" altLang="en-US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altLang="en-US"/>
              <a:t>Essa estrutura é definida para garantir que todos os requisitos de dados estejam corretamente especificados.</a:t>
            </a:r>
            <a:endParaRPr lang="pt-BR" altLang="en-US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altLang="en-US"/>
          </a:p>
          <a:p>
            <a:pPr algn="just"/>
            <a:r>
              <a:rPr lang="pt-BR" altLang="en-US" b="1"/>
              <a:t>3.2. Mapeamento Objeto-Relacional (ORM):</a:t>
            </a:r>
            <a:endParaRPr lang="pt-BR" altLang="en-US" b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altLang="en-US"/>
              <a:t>Um ORM (Mapeamento Objeto-Relacional), como Entity Framework, gera modelos de dados a partir do banco.</a:t>
            </a:r>
            <a:endParaRPr lang="pt-BR" altLang="en-US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altLang="en-US"/>
              <a:t>Esses modelos de dados representam tabelas e colunas do banco de dados como classes e propriedades no código da aplicação, facilitando a interação com o banco.</a:t>
            </a:r>
            <a:endParaRPr lang="pt-B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3. Arquitetura do Database-First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algn="just"/>
            <a:r>
              <a:rPr lang="pt-BR" altLang="en-US" b="1">
                <a:sym typeface="+mn-ea"/>
              </a:rPr>
              <a:t>3.3. Fluxo de Trabalho Database-First:</a:t>
            </a:r>
            <a:endParaRPr lang="pt-BR" altLang="en-US" b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altLang="en-US">
                <a:sym typeface="+mn-ea"/>
              </a:rPr>
              <a:t>O fluxo de trabalho típico é:</a:t>
            </a:r>
            <a:endParaRPr lang="pt-BR" altLang="en-US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altLang="en-US">
                <a:sym typeface="+mn-ea"/>
              </a:rPr>
              <a:t>Projeto do banco de dados.</a:t>
            </a:r>
            <a:endParaRPr lang="pt-BR" altLang="en-US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altLang="en-US">
                <a:sym typeface="+mn-ea"/>
              </a:rPr>
              <a:t>Ferramenta ORM lê a estrutura e gera as classes correspondentes.</a:t>
            </a:r>
            <a:endParaRPr lang="pt-BR" altLang="en-US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altLang="en-US">
                <a:sym typeface="+mn-ea"/>
              </a:rPr>
              <a:t>Desenvolvimento do código da aplicação baseado nesses modelos.</a:t>
            </a:r>
            <a:endParaRPr lang="pt-BR" altLang="en-US">
              <a:sym typeface="+mn-ea"/>
            </a:endParaRPr>
          </a:p>
          <a:p>
            <a:pPr algn="just"/>
            <a:endParaRPr lang="pt-BR" altLang="en-US">
              <a:sym typeface="+mn-ea"/>
            </a:endParaRPr>
          </a:p>
          <a:p>
            <a:pPr algn="just">
              <a:buFont typeface="Arial" panose="020B0604020202020204" pitchFamily="34" charset="0"/>
            </a:pPr>
            <a:r>
              <a:rPr lang="pt-BR" altLang="en-US" b="1"/>
              <a:t>Exemplo</a:t>
            </a:r>
            <a:r>
              <a:rPr lang="pt-BR" altLang="en-US"/>
              <a:t>:</a:t>
            </a:r>
            <a:endParaRPr lang="pt-BR" altLang="en-US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altLang="en-US"/>
              <a:t>Imagine um sistema de e-commerce. O banco de dados é projetado com tabelas para </a:t>
            </a:r>
            <a:r>
              <a:rPr lang="pt-BR" altLang="en-US" i="1"/>
              <a:t>Produto</a:t>
            </a:r>
            <a:r>
              <a:rPr lang="pt-BR" altLang="en-US"/>
              <a:t>, </a:t>
            </a:r>
            <a:r>
              <a:rPr lang="pt-BR" altLang="en-US" i="1"/>
              <a:t>Cliente</a:t>
            </a:r>
            <a:r>
              <a:rPr lang="pt-BR" altLang="en-US"/>
              <a:t>, </a:t>
            </a:r>
            <a:r>
              <a:rPr lang="pt-BR" altLang="en-US" i="1"/>
              <a:t>Pedido</a:t>
            </a:r>
            <a:r>
              <a:rPr lang="pt-BR" altLang="en-US"/>
              <a:t>, etc.</a:t>
            </a:r>
            <a:endParaRPr lang="pt-BR" altLang="en-US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altLang="en-US"/>
              <a:t>O ORM mapeia essas tabelas e gera modelos no código para que </a:t>
            </a:r>
            <a:r>
              <a:rPr lang="pt-BR" altLang="en-US" i="1"/>
              <a:t>Produto </a:t>
            </a:r>
            <a:r>
              <a:rPr lang="pt-BR" altLang="en-US"/>
              <a:t>se torne uma classe que representa essa tabela na aplicação.</a:t>
            </a:r>
            <a:endParaRPr lang="pt-BR" altLang="en-US"/>
          </a:p>
          <a:p>
            <a:pPr algn="just"/>
            <a:endParaRPr lang="pt-B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4. Vantagens do Database-First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Controle Total sobre o Esquema</a:t>
            </a:r>
            <a:r>
              <a:rPr lang="pt-BR" altLang="en-US"/>
              <a:t>: Ao projetar o banco de dados primeiro, é garantido que a estrutura atenda a todos os requisitos iniciais.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Interoperabilidade</a:t>
            </a:r>
            <a:r>
              <a:rPr lang="pt-BR" altLang="en-US"/>
              <a:t>: A estrutura do banco pode ser facilmente compartilhada com outras equipes e integrada com sistemas que precisam de um banco de dados preexistente.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Facilidade de Manutenção</a:t>
            </a:r>
            <a:r>
              <a:rPr lang="pt-BR" altLang="en-US"/>
              <a:t>: Em bancos de dados grandes e complexos, o Database-First simplifica a manutenção e evita problemas de sincronização.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Consistência e Conformidade</a:t>
            </a:r>
            <a:r>
              <a:rPr lang="pt-BR" altLang="en-US"/>
              <a:t>: Ao manter um esquema fixo, os riscos de inconsistências são minimizados.</a:t>
            </a:r>
            <a:endParaRPr lang="pt-B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5. Desvantagens do Database-First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en-US" b="1"/>
              <a:t>Flexibilidade Limitada</a:t>
            </a:r>
            <a:r>
              <a:rPr lang="pt-BR" altLang="en-US"/>
              <a:t>: Modificações exigem que o banco seja atualizado e que o ORM reimporte o esquema, o que pode ser trabalhoso.</a:t>
            </a:r>
            <a:endParaRPr lang="pt-BR" altLang="en-US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en-US" b="1"/>
              <a:t>Curva de Aprendizado</a:t>
            </a:r>
            <a:r>
              <a:rPr lang="pt-BR" altLang="en-US"/>
              <a:t>: É necessário um bom entendimento de SQL e modelagem de banco.</a:t>
            </a:r>
            <a:endParaRPr lang="pt-BR" altLang="en-US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en-US" b="1"/>
              <a:t>Integração com Abordagens Ágeis</a:t>
            </a:r>
            <a:r>
              <a:rPr lang="pt-BR" altLang="en-US"/>
              <a:t>: Em ambientes com mudanças frequentes no banco de dados, o Database-First pode se tornar um desafio, já que exige atualizações frequentes no modelo.</a:t>
            </a:r>
            <a:endParaRPr lang="pt-BR" altLang="en-US"/>
          </a:p>
          <a:p>
            <a:pPr algn="just"/>
            <a:endParaRPr lang="pt-BR" altLang="en-US" b="1"/>
          </a:p>
          <a:p>
            <a:pPr algn="just"/>
            <a:r>
              <a:rPr lang="pt-BR" altLang="en-US" b="1"/>
              <a:t>Exemplo</a:t>
            </a:r>
            <a:r>
              <a:rPr lang="pt-BR" altLang="en-US"/>
              <a:t>:</a:t>
            </a:r>
            <a:endParaRPr lang="pt-BR" altLang="en-US"/>
          </a:p>
          <a:p>
            <a:pPr algn="just"/>
            <a:r>
              <a:rPr lang="pt-BR" altLang="en-US"/>
              <a:t>Em um projeto ágil onde o banco de dados precisa de mudanças rápidas, como em startups, o Database-First pode se tornar rígido demais, pois cada mudança requer uma atualização cuidadosa do banco e do ORM.</a:t>
            </a:r>
            <a:endParaRPr lang="pt-B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6. Boas Práticas no Database-First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Documentação Completa</a:t>
            </a:r>
            <a:r>
              <a:rPr lang="pt-BR" altLang="en-US"/>
              <a:t>: Registrar as estruturas e relações do banco em documentos compartilhados com a equipe.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Controle de Versão</a:t>
            </a:r>
            <a:r>
              <a:rPr lang="pt-BR" altLang="en-US"/>
              <a:t>: Armazenar scripts SQL de criação e atualização do banco em um repositório para controle de versão.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Monitoramento de Desempenho</a:t>
            </a:r>
            <a:r>
              <a:rPr lang="pt-BR" altLang="en-US"/>
              <a:t>: Garantir que índices, chaves primárias e estrangeiras sejam definidos para otimizar a performance.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Consistência de Dados</a:t>
            </a:r>
            <a:r>
              <a:rPr lang="pt-BR" altLang="en-US"/>
              <a:t>: Utilizar chaves estrangeiras e mantenha a integridade referencial para garantir a consistência.</a:t>
            </a:r>
            <a:endParaRPr lang="pt-B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7. Ferramentas para Database-First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algn="just"/>
            <a:r>
              <a:rPr lang="pt-BR" altLang="en-US" b="1"/>
              <a:t>7.1. SQL Server Management Studio (SSMS):</a:t>
            </a:r>
            <a:endParaRPr lang="pt-BR" altLang="en-US" b="1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/>
              <a:t>Permite criar e gerenciar tabelas e relações.</a:t>
            </a:r>
            <a:endParaRPr lang="pt-BR" altLang="en-US"/>
          </a:p>
          <a:p>
            <a:pPr algn="just"/>
            <a:r>
              <a:rPr lang="pt-BR" altLang="en-US" b="1"/>
              <a:t>7.2. MySQL Workbench:</a:t>
            </a:r>
            <a:endParaRPr lang="pt-BR" altLang="en-US" b="1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/>
              <a:t>Ideal para modelar dados e visualizar diagramas de relacionamento.</a:t>
            </a:r>
            <a:endParaRPr lang="pt-BR" altLang="en-US"/>
          </a:p>
          <a:p>
            <a:pPr algn="just"/>
            <a:r>
              <a:rPr lang="pt-BR" altLang="en-US" b="1"/>
              <a:t>7.3. Entity Framework (EF):</a:t>
            </a:r>
            <a:endParaRPr lang="pt-BR" altLang="en-US" b="1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/>
              <a:t>ORM que facilita o mapeamento das tabelas para classes no código.</a:t>
            </a:r>
            <a:endParaRPr lang="pt-BR" altLang="en-US"/>
          </a:p>
          <a:p>
            <a:pPr algn="just"/>
            <a:r>
              <a:rPr lang="pt-BR" altLang="en-US" b="1"/>
              <a:t>7.4. Visual Studio:</a:t>
            </a:r>
            <a:endParaRPr lang="pt-BR" altLang="en-US" b="1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/>
              <a:t>Integrado com o Entity Framework para criar modelos de banco de dados.</a:t>
            </a:r>
            <a:endParaRPr lang="pt-B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8. Introdução ao Model-First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pPr algn="just"/>
            <a:r>
              <a:rPr lang="pt-BR" altLang="en-US"/>
              <a:t>Model-First é uma abordagem onde o desenvolvedor cria um modelo conceitual dos dados (diagramas de entidades e relacionamentos) primeiro. A partir desse modelo, o banco de dados é gerado automaticamente pelo ORM ou ferramenta de modelagem.</a:t>
            </a:r>
            <a:endParaRPr lang="pt-BR" altLang="en-US"/>
          </a:p>
          <a:p>
            <a:pPr algn="just"/>
            <a:r>
              <a:rPr lang="pt-BR" altLang="en-US"/>
              <a:t>Essa abordagem é útil para equipes que desejam visualizar e definir as relações de dados de forma gráfica antes de implementá-las no banco de dados. É comum em novos projetos onde o esquema do banco de dados ainda não está definido.</a:t>
            </a:r>
            <a:endParaRPr lang="pt-BR" altLang="en-US"/>
          </a:p>
          <a:p>
            <a:pPr algn="just"/>
            <a:endParaRPr lang="pt-BR" altLang="en-US"/>
          </a:p>
          <a:p>
            <a:pPr algn="just"/>
            <a:r>
              <a:rPr lang="pt-BR" altLang="en-US"/>
              <a:t>Exemplo: Para um sistema de inventário, você começa desenhando o modelo conceitual com entidades como </a:t>
            </a:r>
            <a:r>
              <a:rPr lang="pt-BR" altLang="en-US" i="1"/>
              <a:t>Produto</a:t>
            </a:r>
            <a:r>
              <a:rPr lang="pt-BR" altLang="en-US"/>
              <a:t>, </a:t>
            </a:r>
            <a:r>
              <a:rPr lang="pt-BR" altLang="en-US" i="1"/>
              <a:t>Fornecedor </a:t>
            </a:r>
            <a:r>
              <a:rPr lang="pt-BR" altLang="en-US"/>
              <a:t>e </a:t>
            </a:r>
            <a:r>
              <a:rPr lang="pt-BR" altLang="en-US" i="1"/>
              <a:t>Categoria</a:t>
            </a:r>
            <a:r>
              <a:rPr lang="pt-BR" altLang="en-US"/>
              <a:t>, e define as relações entre elas no modelo. A ferramenta então gera o banco de dados automaticamente, incluindo as tabelas, colunas e relações.</a:t>
            </a:r>
            <a:endParaRPr lang="pt-B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9. Arquitetura do Model-First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algn="just"/>
            <a:r>
              <a:rPr lang="pt-BR" altLang="en-US" b="1"/>
              <a:t>9.1. Criação do Modelo: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/>
              <a:t>O desenvolvedor cria um diagrama de entidades e relacionamentos usando uma ferramenta de modelagem, como o Entity Framework Designer.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/>
              <a:t>As entidades e suas relações são definidas de maneira gráfica, com atributos, chaves primárias e estrangeiras.</a:t>
            </a:r>
            <a:endParaRPr lang="pt-BR" altLang="en-US"/>
          </a:p>
          <a:p>
            <a:pPr algn="just"/>
            <a:endParaRPr lang="pt-BR" altLang="en-US" b="1"/>
          </a:p>
          <a:p>
            <a:pPr algn="just"/>
            <a:r>
              <a:rPr lang="pt-BR" altLang="en-US" b="1"/>
              <a:t>9.2. Geração do Banco de Dados: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/>
              <a:t>A partir do modelo, o ORM ou ferramenta gera o banco de dados automaticamente, criando tabelas, colunas e relações.</a:t>
            </a:r>
            <a:endParaRPr lang="pt-B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9. Arquitetura do Model-First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 sz="2400" b="1"/>
              <a:t>9.3. Fluxo de Trabalho Model-First:</a:t>
            </a:r>
            <a:endParaRPr lang="pt-BR" altLang="en-US" sz="2400" b="1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en-US" sz="2400"/>
              <a:t>O fluxo de trabalho típico é:</a:t>
            </a:r>
            <a:endParaRPr lang="pt-BR" altLang="en-US" sz="240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altLang="en-US" sz="2000"/>
              <a:t>Definição do modelo de dados (diagrama conceitual).</a:t>
            </a:r>
            <a:endParaRPr lang="pt-BR" altLang="en-US" sz="200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altLang="en-US" sz="2000"/>
              <a:t>Ferramenta ORM transforma o modelo em um esquema de banco.</a:t>
            </a:r>
            <a:endParaRPr lang="pt-BR" altLang="en-US" sz="200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altLang="en-US" sz="2000"/>
              <a:t>Código de aplicação interage com o banco via ORM.</a:t>
            </a:r>
            <a:endParaRPr lang="pt-BR" altLang="en-US" sz="2000"/>
          </a:p>
          <a:p>
            <a:pPr algn="just"/>
            <a:endParaRPr lang="pt-BR" altLang="en-US" sz="2400"/>
          </a:p>
          <a:p>
            <a:pPr algn="just"/>
            <a:r>
              <a:rPr lang="pt-BR" altLang="en-US" sz="2400" b="1"/>
              <a:t>Exemplo</a:t>
            </a:r>
            <a:r>
              <a:rPr lang="pt-BR" altLang="en-US" sz="2400"/>
              <a:t>:</a:t>
            </a:r>
            <a:endParaRPr lang="pt-BR" altLang="en-US" sz="2400"/>
          </a:p>
          <a:p>
            <a:pPr algn="just"/>
            <a:r>
              <a:rPr lang="pt-BR" altLang="en-US" sz="2400"/>
              <a:t>Em um sistema de gerenciamento escolar, o modelo é desenhado para incluir </a:t>
            </a:r>
            <a:r>
              <a:rPr lang="pt-BR" altLang="en-US" sz="2400" i="1"/>
              <a:t>Estudante</a:t>
            </a:r>
            <a:r>
              <a:rPr lang="pt-BR" altLang="en-US" sz="2400"/>
              <a:t>, </a:t>
            </a:r>
            <a:r>
              <a:rPr lang="pt-BR" altLang="en-US" sz="2400" i="1"/>
              <a:t>Curso</a:t>
            </a:r>
            <a:r>
              <a:rPr lang="pt-BR" altLang="en-US" sz="2400"/>
              <a:t>, e </a:t>
            </a:r>
            <a:r>
              <a:rPr lang="pt-BR" altLang="en-US" sz="2400" i="1"/>
              <a:t>Professor</a:t>
            </a:r>
            <a:r>
              <a:rPr lang="pt-BR" altLang="en-US" sz="2400"/>
              <a:t>. As relações, como </a:t>
            </a:r>
            <a:r>
              <a:rPr lang="pt-BR" altLang="en-US" sz="2400" i="1"/>
              <a:t>Um estudante se inscreve em vários cursos</a:t>
            </a:r>
            <a:r>
              <a:rPr lang="pt-BR" altLang="en-US" sz="2400"/>
              <a:t>, são definidas no diagrama. A ferramenta então cria automaticamente as tabelas </a:t>
            </a:r>
            <a:r>
              <a:rPr lang="pt-BR" altLang="en-US" sz="2400" i="1"/>
              <a:t>Estudante</a:t>
            </a:r>
            <a:r>
              <a:rPr lang="pt-BR" altLang="en-US" sz="2400"/>
              <a:t>, </a:t>
            </a:r>
            <a:r>
              <a:rPr lang="pt-BR" altLang="en-US" sz="2400" i="1"/>
              <a:t>Curso </a:t>
            </a:r>
            <a:r>
              <a:rPr lang="pt-BR" altLang="en-US" sz="2400"/>
              <a:t>e </a:t>
            </a:r>
            <a:r>
              <a:rPr lang="pt-BR" altLang="en-US" sz="2400" i="1"/>
              <a:t>Professor </a:t>
            </a:r>
            <a:r>
              <a:rPr lang="pt-BR" altLang="en-US" sz="2400"/>
              <a:t>no banco de dados.</a:t>
            </a:r>
            <a:endParaRPr lang="pt-BR" altLang="en-US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10. Vantagens do Model-First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Visualização Gráfica do Modelo</a:t>
            </a:r>
            <a:r>
              <a:rPr lang="pt-BR" altLang="en-US"/>
              <a:t>: O diagrama facilita a compreensão das relações de dados e como as entidades se conectam.</a:t>
            </a:r>
            <a:endParaRPr lang="pt-BR" altLang="en-US" b="1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Flexibilidade no Design Inicial</a:t>
            </a:r>
            <a:r>
              <a:rPr lang="pt-BR" altLang="en-US"/>
              <a:t>: Permite modelar o banco de dados visualmente e fazer ajustes antes que a estrutura física do banco seja criada.</a:t>
            </a:r>
            <a:endParaRPr lang="pt-BR" altLang="en-US" b="1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Geração Automática do Banco</a:t>
            </a:r>
            <a:r>
              <a:rPr lang="pt-BR" altLang="en-US"/>
              <a:t>: O banco de dados é gerado automaticamente a partir do modelo, eliminando a necessidade de escrever scripts SQL para a estrutura básica.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altLang="en-US"/>
          </a:p>
          <a:p>
            <a:pPr algn="just">
              <a:buFont typeface="Arial" panose="020B0604020202020204" pitchFamily="34" charset="0"/>
            </a:pPr>
            <a:r>
              <a:rPr lang="pt-BR" altLang="en-US" b="1"/>
              <a:t>Exemplo:</a:t>
            </a:r>
            <a:endParaRPr lang="pt-BR" altLang="en-US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en-US"/>
              <a:t>O time de desenvolvedores estão criando um sistema de e-commerce e desejam ter uma visão clara de como </a:t>
            </a:r>
            <a:r>
              <a:rPr lang="pt-BR" altLang="en-US" i="1"/>
              <a:t>Produto</a:t>
            </a:r>
            <a:r>
              <a:rPr lang="pt-BR" altLang="en-US"/>
              <a:t>, </a:t>
            </a:r>
            <a:r>
              <a:rPr lang="pt-BR" altLang="en-US" i="1"/>
              <a:t>Cliente</a:t>
            </a:r>
            <a:r>
              <a:rPr lang="pt-BR" altLang="en-US"/>
              <a:t>, e </a:t>
            </a:r>
            <a:r>
              <a:rPr lang="pt-BR" altLang="en-US" i="1"/>
              <a:t>Pedido </a:t>
            </a:r>
            <a:r>
              <a:rPr lang="pt-BR" altLang="en-US"/>
              <a:t>se relacionam, o diagrama facilita o planejamento, ajudando a enxergar possíveis problemas antes de o banco ser criado.</a:t>
            </a:r>
            <a:endParaRPr lang="pt-B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11. Desvantagens do Model-First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en-US" sz="2200" b="1"/>
              <a:t>Limitações em Grandes Projetos</a:t>
            </a:r>
            <a:r>
              <a:rPr lang="pt-BR" altLang="en-US" sz="2200"/>
              <a:t>: Para bancos de dados com milhares de tabelas, o Model-First pode não escalar bem e se tornar difícil de gerenciar.</a:t>
            </a:r>
            <a:endParaRPr lang="pt-BR" altLang="en-US" sz="220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en-US" sz="2200" b="1"/>
              <a:t>Complexidade na Sincronização</a:t>
            </a:r>
            <a:r>
              <a:rPr lang="pt-BR" altLang="en-US" sz="2200"/>
              <a:t>: Mudanças no modelo após o banco ser criado podem exigir atualizações constantes, o que pode ser trabalhoso.</a:t>
            </a:r>
            <a:endParaRPr lang="pt-BR" altLang="en-US" sz="220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en-US" sz="2200" b="1"/>
              <a:t>Dependência de Ferramentas</a:t>
            </a:r>
            <a:r>
              <a:rPr lang="pt-BR" altLang="en-US" sz="2200"/>
              <a:t>: Muitas ferramentas ORM têm limitações sobre quais tipos de dados e relações suportam, o que pode limitar as possibilidades do modelo.</a:t>
            </a:r>
            <a:endParaRPr lang="pt-BR" altLang="en-US" sz="2200"/>
          </a:p>
          <a:p>
            <a:pPr algn="just"/>
            <a:endParaRPr lang="pt-BR" altLang="en-US" sz="2200" b="1"/>
          </a:p>
          <a:p>
            <a:pPr algn="just"/>
            <a:r>
              <a:rPr lang="pt-BR" altLang="en-US" sz="2200" b="1"/>
              <a:t>Exemplo:</a:t>
            </a:r>
            <a:endParaRPr lang="pt-BR" altLang="en-US" sz="220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en-US" sz="2200"/>
              <a:t>Em projetos complexos, como um sistema bancário, o Model-First pode ser pouco prático. Alterações frequentes exigiriam constantes atualizações do banco, o que poderia causar inconsistências.</a:t>
            </a:r>
            <a:endParaRPr lang="pt-BR" altLang="en-US" sz="2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12. Ferramentas para Model-First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r>
              <a:rPr lang="pt-BR" altLang="en-US" b="1"/>
              <a:t>12.1. Entity Framework Designer:</a:t>
            </a:r>
            <a:endParaRPr lang="pt-BR" altLang="en-US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en-US"/>
              <a:t>Ferramenta gráfica para criar o modelo de dados e gerar o banco a partir dele.</a:t>
            </a:r>
            <a:endParaRPr lang="pt-BR" altLang="en-US"/>
          </a:p>
          <a:p>
            <a:r>
              <a:rPr lang="pt-BR" altLang="en-US" b="1"/>
              <a:t>12.2. MySQL Workbench:</a:t>
            </a:r>
            <a:endParaRPr lang="pt-BR" alt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en-US"/>
              <a:t>Ferramenta visual para modelar dados e criar diagramas de entidades e relações.</a:t>
            </a:r>
            <a:endParaRPr lang="pt-BR" altLang="en-US"/>
          </a:p>
          <a:p>
            <a:r>
              <a:rPr lang="pt-BR" altLang="en-US" b="1"/>
              <a:t>12.3. SQL Server Data Tools:</a:t>
            </a:r>
            <a:endParaRPr lang="pt-BR" altLang="en-US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en-US"/>
              <a:t>Ferramenta da Microsoft que facilita a criação e sincronização de bancos de dados a partir de modelos.</a:t>
            </a:r>
            <a:endParaRPr lang="pt-BR" altLang="en-US"/>
          </a:p>
          <a:p>
            <a:r>
              <a:rPr lang="pt-BR" altLang="en-US" b="1"/>
              <a:t>12.4. PowerDesigner:</a:t>
            </a:r>
            <a:endParaRPr lang="pt-BR" alt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en-US"/>
              <a:t>Software avançado para modelagem de dados, ideal para ambientes complexos.</a:t>
            </a:r>
            <a:endParaRPr lang="pt-B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8483</Words>
  <Application>WPS Presentation</Application>
  <PresentationFormat>宽屏</PresentationFormat>
  <Paragraphs>134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Programação Web II</vt:lpstr>
      <vt:lpstr>1. Introdução ao Database-First</vt:lpstr>
      <vt:lpstr>2. Database-First vs Code-First</vt:lpstr>
      <vt:lpstr>3. Arquitetura do Database-First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jacques</cp:lastModifiedBy>
  <cp:revision>5</cp:revision>
  <dcterms:created xsi:type="dcterms:W3CDTF">2024-10-31T21:29:00Z</dcterms:created>
  <dcterms:modified xsi:type="dcterms:W3CDTF">2024-11-14T18:50:41Z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1046-12.2.0.18607</vt:lpwstr>
  </property>
  <property fmtid="{D5CDD505-2E9C-101B-9397-08002B2CF9AE}" pid="3" name="ICV">
    <vt:lpwstr>08A747B7491D43BB99AEE69489F46D68_11</vt:lpwstr>
  </property>
</Properties>
</file>