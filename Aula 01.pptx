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91"/>
  </p:handoutMasterIdLst>
  <p:sldIdLst>
    <p:sldId id="256" r:id="rId3"/>
    <p:sldId id="257" r:id="rId4"/>
    <p:sldId id="301" r:id="rId5"/>
    <p:sldId id="258" r:id="rId6"/>
    <p:sldId id="259" r:id="rId7"/>
    <p:sldId id="269" r:id="rId8"/>
    <p:sldId id="260" r:id="rId9"/>
    <p:sldId id="264" r:id="rId10"/>
    <p:sldId id="261" r:id="rId11"/>
    <p:sldId id="265" r:id="rId12"/>
    <p:sldId id="262" r:id="rId13"/>
    <p:sldId id="263" r:id="rId14"/>
    <p:sldId id="266" r:id="rId16"/>
    <p:sldId id="267" r:id="rId17"/>
    <p:sldId id="268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343" r:id="rId48"/>
    <p:sldId id="344" r:id="rId49"/>
    <p:sldId id="345" r:id="rId50"/>
    <p:sldId id="346" r:id="rId51"/>
    <p:sldId id="347" r:id="rId52"/>
    <p:sldId id="349" r:id="rId53"/>
    <p:sldId id="350" r:id="rId54"/>
    <p:sldId id="351" r:id="rId55"/>
    <p:sldId id="352" r:id="rId56"/>
    <p:sldId id="353" r:id="rId57"/>
    <p:sldId id="354" r:id="rId58"/>
    <p:sldId id="355" r:id="rId59"/>
    <p:sldId id="356" r:id="rId60"/>
    <p:sldId id="357" r:id="rId61"/>
    <p:sldId id="358" r:id="rId62"/>
    <p:sldId id="359" r:id="rId63"/>
    <p:sldId id="360" r:id="rId64"/>
    <p:sldId id="361" r:id="rId65"/>
    <p:sldId id="362" r:id="rId66"/>
    <p:sldId id="363" r:id="rId67"/>
    <p:sldId id="364" r:id="rId68"/>
    <p:sldId id="365" r:id="rId69"/>
    <p:sldId id="366" r:id="rId70"/>
    <p:sldId id="367" r:id="rId71"/>
    <p:sldId id="368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376" r:id="rId80"/>
    <p:sldId id="377" r:id="rId81"/>
    <p:sldId id="378" r:id="rId82"/>
    <p:sldId id="379" r:id="rId83"/>
    <p:sldId id="380" r:id="rId84"/>
    <p:sldId id="381" r:id="rId85"/>
    <p:sldId id="382" r:id="rId86"/>
    <p:sldId id="383" r:id="rId87"/>
    <p:sldId id="384" r:id="rId88"/>
    <p:sldId id="385" r:id="rId89"/>
    <p:sldId id="386" r:id="rId9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handoutMaster" Target="handoutMasters/handoutMaster1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Um arquivo .ejs é um tipo de template utilizado em desenvolvimento web, mais especificamente com o Node.js. A sigla EJS significa Embedded JavaScript Templates, ou seja, Modelos de JavaScript Embutidos.</a:t>
            </a:r>
            <a:endParaRPr lang="pt-BR" altLang="en-US"/>
          </a:p>
          <a:p>
            <a:endParaRPr lang="pt-B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o objeto user é passado para a View dashboard.ejs, onde o nome do usuário é exibido.</a:t>
            </a:r>
            <a:endParaRPr lang="pt-B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Em engenharia e programação de software, uma framework é uma coleção de componentes de software reutilizáveis que tornam mais eficiente o desenvolvimento de novas aplicações. A reutilização do desenvolvimento e da pesquisa existentes é um princípio essencial em todos os campos da engenharia.</a:t>
            </a:r>
            <a:endParaRPr lang="pt-B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middleware que verifica se o usuário está autenticado antes de permitir o acesso a uma rota protegida. Nesse exemplo, antes de acessar o /dashboard, o middleware authMiddleware verifica se o usuário está autenticado. Se estiver, o next() é chamado, permitindo o acesso à rota. Caso contrário, o usuário é redirecionado para a página de login.</a:t>
            </a:r>
            <a:endParaRPr lang="pt-B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p>
            <a:r>
              <a:rPr lang="pt-BR" altLang="en-US" sz="4000">
                <a:sym typeface="+mn-ea"/>
              </a:rPr>
              <a:t>Aplicações Web MVC lado servidor: Controllers, Models, Views e Template Engines, Validação, Sessão e Roteamento</a:t>
            </a:r>
            <a:endParaRPr lang="pt-BR" altLang="en-US" sz="4000">
              <a:sym typeface="+mn-ea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Introdução ao Padrão MVC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pt-BR" altLang="en-US"/>
              <a:t>MVC (</a:t>
            </a:r>
            <a:r>
              <a:rPr lang="pt-BR" altLang="en-US" i="1"/>
              <a:t>Model-View-Controller</a:t>
            </a:r>
            <a:r>
              <a:rPr lang="pt-BR" altLang="en-US"/>
              <a:t>) é um padrão de design arquitetônico que separa a aplicação em três componentes principais: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Model (Modelo)</a:t>
            </a:r>
            <a:r>
              <a:rPr lang="pt-BR" altLang="en-US"/>
              <a:t>: Responsável pela lógica de dados e interações com o banco de dados. O modelo encapsula os dados da aplicação e as regras de negócio.</a:t>
            </a:r>
            <a:endParaRPr lang="pt-BR" altLang="en-US"/>
          </a:p>
          <a:p>
            <a:pPr algn="just"/>
            <a:r>
              <a:rPr lang="pt-BR" altLang="en-US" b="1"/>
              <a:t>View (Visão)</a:t>
            </a:r>
            <a:r>
              <a:rPr lang="pt-BR" altLang="en-US"/>
              <a:t>: A camada de interface com o usuário. A view apresenta os dados ao usuário e recebe as entradas de dados.</a:t>
            </a:r>
            <a:endParaRPr lang="pt-BR" altLang="en-US"/>
          </a:p>
          <a:p>
            <a:pPr algn="just"/>
            <a:r>
              <a:rPr lang="pt-BR" altLang="en-US" b="1"/>
              <a:t>Controller (Controlador)</a:t>
            </a:r>
            <a:r>
              <a:rPr lang="pt-BR" altLang="en-US"/>
              <a:t>: Atua como intermediário entre o Model e a View. Ele processa as entradas do usuário, manipula o modelo e decide qual view será renderizada.</a:t>
            </a:r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Imagem 3" descr="featur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224915"/>
            <a:ext cx="10496550" cy="4408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 Funções dos Models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Estruturação dos Dados: </a:t>
            </a:r>
            <a:r>
              <a:rPr lang="pt-BR" altLang="en-US"/>
              <a:t>Os Models definem a estrutura dos dados que serão manipulados na aplicação. Isso inclui tipos de dados, restrições, validações e relações entre diferentes entidades.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Lógica de Negócio</a:t>
            </a:r>
            <a:r>
              <a:rPr lang="pt-BR" altLang="en-US"/>
              <a:t>: Além de armazenar dados, os Models podem conter lógica de negócios, como cálculos, validações customizadas e regras específicas para manipulação de dados.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Interação com o Banco de Dados</a:t>
            </a:r>
            <a:r>
              <a:rPr lang="pt-BR" altLang="en-US"/>
              <a:t>: Os Models são responsáveis por interagir com o banco de dados. Eles podem ser mapeados diretamente para tabelas no banco de dados e fornecer uma interface para realizar operações CRUD sem precisar escrever SQL diretamente.</a:t>
            </a:r>
            <a:endParaRPr lang="pt-B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1.2. Implementação de Models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Node.js com Sequelize (ORM)</a:t>
            </a:r>
            <a:r>
              <a:rPr lang="pt-BR" altLang="en-US"/>
              <a:t>: </a:t>
            </a:r>
            <a:endParaRPr lang="pt-BR" altLang="en-US"/>
          </a:p>
          <a:p>
            <a:pPr algn="just"/>
            <a:r>
              <a:rPr lang="pt-BR" altLang="en-US"/>
              <a:t>Sequelize é um ORM (Object-Relational Mapping) popular para Node.js que facilita o trabalho com bancos de dados relacionais.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pt-BR" altLang="en-US"/>
              <a:t>Exemplo de implementação de Models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rcRect l="6166" t="6990" r="6334" b="7544"/>
          <a:stretch>
            <a:fillRect/>
          </a:stretch>
        </p:blipFill>
        <p:spPr>
          <a:xfrm>
            <a:off x="949325" y="2129790"/>
            <a:ext cx="4280535" cy="371919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rcRect l="7239" t="11080" r="7286" b="10500"/>
          <a:stretch>
            <a:fillRect/>
          </a:stretch>
        </p:blipFill>
        <p:spPr>
          <a:xfrm>
            <a:off x="5494655" y="2284730"/>
            <a:ext cx="5668645" cy="3433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1.3. Validações no Model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/>
              <a:t>Os Models muitas vezes incluem validações para garantir a integridade dos dados antes que sejam salvos no banco de dados. As validações comuns incluem: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Presença</a:t>
            </a:r>
            <a:r>
              <a:rPr lang="pt-BR" altLang="en-US"/>
              <a:t>: Garante que um campo não seja nulo ou vazio.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Unicidade</a:t>
            </a:r>
            <a:r>
              <a:rPr lang="pt-BR" altLang="en-US"/>
              <a:t>: Garante que os valores de um campo sejam únicos.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Formato</a:t>
            </a:r>
            <a:r>
              <a:rPr lang="pt-BR" altLang="en-US"/>
              <a:t>: Garante que os valores sigam um padrão específico (e.g., e-mails).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Tipo de Dados</a:t>
            </a:r>
            <a:r>
              <a:rPr lang="pt-BR" altLang="en-US"/>
              <a:t>: Garante que os dados estejam no tipo correto (e.g., string, inteiro).</a:t>
            </a:r>
            <a:endParaRPr lang="pt-B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pt-BR" altLang="en-US"/>
              <a:t>Exemplo de Validação no Sequelize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6715" y="1825625"/>
            <a:ext cx="59563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1.4. Relacionamentos entre Models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/>
              <a:t>Em aplicações mais complexas, os Models muitas vezes estão relacionados entre si, representando as relações entre as tabelas do banco de dados: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One-to-Many (Um-para-Muitos)</a:t>
            </a:r>
            <a:r>
              <a:rPr lang="pt-BR" altLang="en-US"/>
              <a:t>: Um registro em uma tabela pode estar relacionado com muitos registros em outra.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Many-to-Many (Muitos-para-Muitos)</a:t>
            </a:r>
            <a:r>
              <a:rPr lang="pt-BR" altLang="en-US"/>
              <a:t>: Muitos registros em uma tabela podem estar relacionados com muitos registros em outra.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One-to-One (Um-para-Um)</a:t>
            </a:r>
            <a:r>
              <a:rPr lang="pt-BR" altLang="en-US"/>
              <a:t>: Um registro em uma tabela está relacionado com exatamente um registro em outra.</a:t>
            </a:r>
            <a:endParaRPr lang="pt-B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pt-BR" altLang="en-US"/>
              <a:t>Exemplo de Relacionamento em Sequelize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011045"/>
            <a:ext cx="10515600" cy="3979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1.5. Operações CRUD com Models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Os Models geralmente fornecem métodos para realizar operações CRUD: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Create</a:t>
            </a:r>
            <a:r>
              <a:rPr lang="pt-BR" altLang="en-US"/>
              <a:t>: Criar novos registros.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Read</a:t>
            </a:r>
            <a:r>
              <a:rPr lang="pt-BR" altLang="en-US"/>
              <a:t>: Recuperar registros existentes.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Update</a:t>
            </a:r>
            <a:r>
              <a:rPr lang="pt-BR" altLang="en-US"/>
              <a:t>: Atualizar registros existentes.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Delete</a:t>
            </a:r>
            <a:r>
              <a:rPr lang="pt-BR" altLang="en-US"/>
              <a:t>: Excluir registros.</a:t>
            </a:r>
            <a:endParaRPr lang="pt-B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Exemplo de Operação CRUD em Javascript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58845" y="1825625"/>
            <a:ext cx="48920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Exemplo de Operação CRUD em Javascript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9800" y="1825625"/>
            <a:ext cx="739013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Exemplo de Operação CRUD em Javascript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31975" y="1825625"/>
            <a:ext cx="81464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1.6. Explicação das Operações CRUD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pt-BR" altLang="en-US" b="1"/>
              <a:t>CREATE</a:t>
            </a:r>
            <a:r>
              <a:rPr lang="pt-BR" altLang="en-US"/>
              <a:t>: Usamos </a:t>
            </a:r>
            <a:r>
              <a:rPr lang="pt-BR" altLang="en-US" i="1"/>
              <a:t>User.create()</a:t>
            </a:r>
            <a:r>
              <a:rPr lang="pt-BR" altLang="en-US"/>
              <a:t> para criar um novo usuário e salvar seus dados no banco de dados. Em seguida, exibimos os dados do usuário criado.</a:t>
            </a:r>
            <a:endParaRPr lang="pt-BR" altLang="en-US"/>
          </a:p>
          <a:p>
            <a:endParaRPr lang="pt-BR" altLang="en-US"/>
          </a:p>
          <a:p>
            <a:r>
              <a:rPr lang="pt-BR" altLang="en-US" b="1"/>
              <a:t>READ</a:t>
            </a:r>
            <a:r>
              <a:rPr lang="pt-BR" altLang="en-US"/>
              <a:t>: Para ler um usuário existente, utilizamos </a:t>
            </a:r>
            <a:r>
              <a:rPr lang="pt-BR" altLang="en-US" i="1"/>
              <a:t>User.findOne()</a:t>
            </a:r>
            <a:r>
              <a:rPr lang="pt-BR" altLang="en-US"/>
              <a:t>, que procura no banco de dados um registro que corresponda ao critério especificado (neste caso, o email). Se o usuário for encontrado, seus dados são exibidos.</a:t>
            </a:r>
            <a:endParaRPr lang="pt-BR" altLang="en-US"/>
          </a:p>
          <a:p>
            <a:endParaRPr lang="pt-BR" altLang="en-US"/>
          </a:p>
          <a:p>
            <a:r>
              <a:rPr lang="pt-BR" altLang="en-US" b="1"/>
              <a:t>UPDATE</a:t>
            </a:r>
            <a:r>
              <a:rPr lang="pt-BR" altLang="en-US"/>
              <a:t>: O usuário encontrado é atualizado alterando o campo </a:t>
            </a:r>
            <a:r>
              <a:rPr lang="pt-BR" altLang="en-US" i="1"/>
              <a:t>name </a:t>
            </a:r>
            <a:r>
              <a:rPr lang="pt-BR" altLang="en-US"/>
              <a:t>e chamando </a:t>
            </a:r>
            <a:r>
              <a:rPr lang="pt-BR" altLang="en-US" i="1"/>
              <a:t>user.save()</a:t>
            </a:r>
            <a:r>
              <a:rPr lang="pt-BR" altLang="en-US"/>
              <a:t> para persistir as mudanças no banco de dados.</a:t>
            </a:r>
            <a:endParaRPr lang="pt-BR" altLang="en-US"/>
          </a:p>
          <a:p>
            <a:endParaRPr lang="pt-BR" altLang="en-US"/>
          </a:p>
          <a:p>
            <a:r>
              <a:rPr lang="pt-BR" altLang="en-US" b="1"/>
              <a:t>DELETE</a:t>
            </a:r>
            <a:r>
              <a:rPr lang="pt-BR" altLang="en-US"/>
              <a:t>: O usuário é excluído usando </a:t>
            </a:r>
            <a:r>
              <a:rPr lang="pt-BR" altLang="en-US" i="1"/>
              <a:t>user.destroy()</a:t>
            </a:r>
            <a:r>
              <a:rPr lang="pt-BR" altLang="en-US"/>
              <a:t>. Após a exclusão, tentamos buscar o usuário novamente para confirmar que ele foi removido.</a:t>
            </a:r>
            <a:endParaRPr lang="pt-B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Os </a:t>
            </a:r>
            <a:r>
              <a:rPr lang="pt-BR" altLang="en-US" i="1"/>
              <a:t>Controllers </a:t>
            </a:r>
            <a:r>
              <a:rPr lang="pt-BR" altLang="en-US"/>
              <a:t>são uma parte fundamental do padrão MVC (Model-View-Controller). </a:t>
            </a:r>
            <a:endParaRPr lang="pt-BR" altLang="en-US"/>
          </a:p>
          <a:p>
            <a:pPr algn="just"/>
            <a:r>
              <a:rPr lang="pt-BR" altLang="en-US"/>
              <a:t>Eles atuam como intermediários entre os </a:t>
            </a:r>
            <a:r>
              <a:rPr lang="pt-BR" altLang="en-US" i="1"/>
              <a:t>Models </a:t>
            </a:r>
            <a:r>
              <a:rPr lang="pt-BR" altLang="en-US"/>
              <a:t>(que gerenciam os dados e a lógica de negócios) e as </a:t>
            </a:r>
            <a:r>
              <a:rPr lang="pt-BR" altLang="en-US" i="1"/>
              <a:t>Views </a:t>
            </a:r>
            <a:r>
              <a:rPr lang="pt-BR" altLang="en-US"/>
              <a:t>(que são responsáveis pela apresentação dos dados para o usuário). </a:t>
            </a:r>
            <a:endParaRPr lang="pt-BR" altLang="en-US"/>
          </a:p>
          <a:p>
            <a:pPr algn="just"/>
            <a:r>
              <a:rPr lang="pt-BR" altLang="en-US"/>
              <a:t>Em essência, os </a:t>
            </a:r>
            <a:r>
              <a:rPr lang="pt-BR" altLang="en-US" i="1"/>
              <a:t>Controllers </a:t>
            </a:r>
            <a:r>
              <a:rPr lang="pt-BR" altLang="en-US"/>
              <a:t>recebem as requisições do usuário, processam essas requisições (interagindo com os Models quando necessário) e retornam a resposta apropriada, seja uma página web, um </a:t>
            </a:r>
            <a:r>
              <a:rPr lang="pt-BR" altLang="en-US" i="1"/>
              <a:t>JSON</a:t>
            </a:r>
            <a:r>
              <a:rPr lang="pt-BR" altLang="en-US"/>
              <a:t>, ou uma outra forma de saída.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</a:t>
            </a:r>
            <a:r>
              <a:rPr lang="pt-BR" altLang="en-US">
                <a:sym typeface="+mn-ea"/>
              </a:rPr>
              <a:t>1. Funções dos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Receber e Processar Requisições</a:t>
            </a:r>
            <a:r>
              <a:rPr lang="pt-BR" altLang="en-US"/>
              <a:t>: Os Controllers recebem as requisições HTTP (como </a:t>
            </a:r>
            <a:r>
              <a:rPr lang="pt-BR" altLang="en-US" i="1"/>
              <a:t>GET</a:t>
            </a:r>
            <a:r>
              <a:rPr lang="pt-BR" altLang="en-US"/>
              <a:t>, </a:t>
            </a:r>
            <a:r>
              <a:rPr lang="pt-BR" altLang="en-US" i="1"/>
              <a:t>POST</a:t>
            </a:r>
            <a:r>
              <a:rPr lang="pt-BR" altLang="en-US"/>
              <a:t>, </a:t>
            </a:r>
            <a:r>
              <a:rPr lang="pt-BR" altLang="en-US" i="1"/>
              <a:t>PUT</a:t>
            </a:r>
            <a:r>
              <a:rPr lang="pt-BR" altLang="en-US"/>
              <a:t>, </a:t>
            </a:r>
            <a:r>
              <a:rPr lang="pt-BR" altLang="en-US" i="1"/>
              <a:t>DELETE</a:t>
            </a:r>
            <a:r>
              <a:rPr lang="pt-BR" altLang="en-US"/>
              <a:t>), extraem os dados necessários (por exemplo, parâmetros de rota, corpo da requisição) e determinam o que deve ser feito com essa requisição.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Interagir com Models</a:t>
            </a:r>
            <a:r>
              <a:rPr lang="pt-BR" altLang="en-US"/>
              <a:t>: Se a requisição do usuário requer manipulação de dados, como buscar informações do banco de dados, salvar novos dados, ou atualizar registros existentes, o Controller interage com os Models para realizar essas operações.</a:t>
            </a:r>
            <a:endParaRPr lang="pt-B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2.</a:t>
            </a:r>
            <a:r>
              <a:rPr lang="pt-BR" altLang="en-US">
                <a:sym typeface="+mn-ea"/>
              </a:rPr>
              <a:t>1. Funções dos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Selecionar e Renderizar Views</a:t>
            </a:r>
            <a:r>
              <a:rPr lang="pt-BR" altLang="en-US"/>
              <a:t>: Após processar a requisição e obter os dados necessários, o Controller decide qual View deve ser renderizada e envia esses dados para a View, que será apresentada ao usuário.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Redirecionamentos e Respostas: </a:t>
            </a:r>
            <a:r>
              <a:rPr lang="pt-BR" altLang="en-US"/>
              <a:t>Os Controllers também podem redirecionar os usuários para outras rotas ou enviar respostas diretas, como arquivos </a:t>
            </a:r>
            <a:r>
              <a:rPr lang="pt-BR" altLang="en-US" i="1"/>
              <a:t>JSON </a:t>
            </a:r>
            <a:r>
              <a:rPr lang="pt-BR" altLang="en-US"/>
              <a:t>para </a:t>
            </a:r>
            <a:r>
              <a:rPr lang="pt-BR" altLang="en-US" i="1"/>
              <a:t>APIs RESTful</a:t>
            </a:r>
            <a:r>
              <a:rPr lang="pt-BR" altLang="en-US"/>
              <a:t>.</a:t>
            </a:r>
            <a:endParaRPr lang="pt-B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2.</a:t>
            </a:r>
            <a:r>
              <a:rPr lang="pt-BR" altLang="en-US">
                <a:sym typeface="+mn-ea"/>
              </a:rPr>
              <a:t>2. Exemplo de Implementação de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7313295" cy="4351655"/>
          </a:xfrm>
        </p:spPr>
        <p:txBody>
          <a:bodyPr/>
          <a:p>
            <a:r>
              <a:rPr lang="pt-BR" altLang="en-US"/>
              <a:t>Vamos usar o framework Express.js em Node.js para exemplificar como um Controller pode ser implementado.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Estrutura de Arquivos: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7990" y="1247775"/>
            <a:ext cx="3115310" cy="56102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2.2.1. Controller Simples - userController.js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49525" y="1825625"/>
            <a:ext cx="67106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2.2.1. Controller Simples - userController.js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48915" y="1825625"/>
            <a:ext cx="63119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2.2.1. Controller Simples - userController.js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56485" y="1825625"/>
            <a:ext cx="70967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2.2.2. Integrando o Controller com o Roteamento - app.js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2200" y="1825625"/>
            <a:ext cx="70859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>
                <a:sym typeface="+mn-ea"/>
              </a:rPr>
              <a:t>2.2.2. Integrando o Controller com o Roteamento - app.js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13305" y="1825625"/>
            <a:ext cx="718312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2.</a:t>
            </a:r>
            <a:r>
              <a:rPr lang="pt-BR" altLang="en-US">
                <a:sym typeface="+mn-ea"/>
              </a:rPr>
              <a:t>3. Detalhes e Padrões Comuns nos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Modularização</a:t>
            </a:r>
            <a:r>
              <a:rPr lang="pt-BR" altLang="en-US"/>
              <a:t>: Controllers são frequentemente divididos em arquivos separados para cada entidade ou recurso da aplicação (por exemplo, userController.js, productController.js), o que facilita a manutenção e organização do código.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Lidar com Erros</a:t>
            </a:r>
            <a:r>
              <a:rPr lang="pt-BR" altLang="en-US"/>
              <a:t>: Os Controllers geralmente contêm lógica para lidar com erros, garantindo que a aplicação responda de maneira adequada (por exemplo, retornando códigos de status HTTP apropriados e mensagens de erro).</a:t>
            </a:r>
            <a:endParaRPr lang="pt-B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>
                <a:sym typeface="+mn-ea"/>
              </a:rPr>
              <a:t>2.</a:t>
            </a:r>
            <a:r>
              <a:rPr lang="pt-BR" altLang="en-US">
                <a:sym typeface="+mn-ea"/>
              </a:rPr>
              <a:t>3. Detalhes e Padrões Comuns nos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Autenticação e Autorização</a:t>
            </a:r>
            <a:r>
              <a:rPr lang="pt-BR" altLang="en-US"/>
              <a:t>: É comum que Controllers gerenciem a autenticação (verificando se um usuário está logado) e a autorização (verificando se um usuário tem permissão para acessar determinado recurso).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Redirecionamento e Respostas Dinâmicas</a:t>
            </a:r>
            <a:r>
              <a:rPr lang="pt-BR" altLang="en-US"/>
              <a:t>: Controllers podem redirecionar o usuário para outras rotas, enviar respostas JSON em APIs RESTful, ou renderizar views dinâmicas usando dados obtidos dos Models.</a:t>
            </a:r>
            <a:endParaRPr lang="pt-B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As </a:t>
            </a:r>
            <a:r>
              <a:rPr lang="pt-BR" altLang="en-US" i="1"/>
              <a:t>Views </a:t>
            </a:r>
            <a:r>
              <a:rPr lang="pt-BR" altLang="en-US"/>
              <a:t>são a camada da aplicação MVC (Model-View-Controller) responsável pela apresentação dos dados ao usuário. Elas são responsáveis por renderizar a interface de usuário, utilizando dados fornecidos pelos </a:t>
            </a:r>
            <a:r>
              <a:rPr lang="pt-BR" altLang="en-US" i="1"/>
              <a:t>Controllers</a:t>
            </a:r>
            <a:r>
              <a:rPr lang="pt-BR" altLang="en-US"/>
              <a:t>. 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As Views podem ser páginas </a:t>
            </a:r>
            <a:r>
              <a:rPr lang="pt-BR" altLang="en-US" i="1"/>
              <a:t>HTML</a:t>
            </a:r>
            <a:r>
              <a:rPr lang="pt-BR" altLang="en-US"/>
              <a:t>, arquivos </a:t>
            </a:r>
            <a:r>
              <a:rPr lang="pt-BR" altLang="en-US" i="1"/>
              <a:t>JSON</a:t>
            </a:r>
            <a:r>
              <a:rPr lang="pt-BR" altLang="en-US"/>
              <a:t>, </a:t>
            </a:r>
            <a:r>
              <a:rPr lang="pt-BR" altLang="en-US" i="1"/>
              <a:t>XML </a:t>
            </a:r>
            <a:r>
              <a:rPr lang="pt-BR" altLang="en-US"/>
              <a:t>ou qualquer outro tipo de conteúdo que o navegador do usuário possa processar.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</a:t>
            </a:r>
            <a:r>
              <a:rPr lang="pt-BR" altLang="en-US">
                <a:sym typeface="+mn-ea"/>
              </a:rPr>
              <a:t>1. Funções das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Renderização de Conteúdo</a:t>
            </a:r>
            <a:r>
              <a:rPr lang="pt-BR" altLang="en-US"/>
              <a:t>: As Views recebem dados dos Controllers e os utilizam para gerar conteúdo dinâmico que será exibido ao usuário. Esse conteúdo pode ser uma página HTML completa ou apenas um fragmento, dependendo da necessidade.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Separação de Lógica e Apresentação: </a:t>
            </a:r>
            <a:r>
              <a:rPr lang="pt-BR" altLang="en-US"/>
              <a:t>Uma das principais funções das Views é manter a lógica de apresentação separada da lógica de negócios e manipulação de dados. Isso garante que o código de renderização da interface permaneça limpo e fácil de manter.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Interatividade</a:t>
            </a:r>
            <a:r>
              <a:rPr lang="pt-BR" altLang="en-US"/>
              <a:t>: Em algumas situações, as Views não apenas exibem dados, mas também incluem elementos interativos, como formulários, botões e links, que permitem ao usuário interagir com a aplicação.</a:t>
            </a:r>
            <a:endParaRPr lang="pt-B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</a:t>
            </a:r>
            <a:r>
              <a:rPr lang="pt-BR" altLang="en-US">
                <a:sym typeface="+mn-ea"/>
              </a:rPr>
              <a:t>2. Implementação de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6314440" cy="4351655"/>
          </a:xfrm>
        </p:spPr>
        <p:txBody>
          <a:bodyPr/>
          <a:p>
            <a:pPr algn="just"/>
            <a:r>
              <a:rPr lang="pt-BR" altLang="en-US"/>
              <a:t>Dependendo da linguagem e framework que você está utilizando, a implementação de Views pode variar. Vamos explorar exemplos usando Express.js com o motor de template EJS (Embedded JavaScript), que é comumente utilizado em aplicações Node.js.</a:t>
            </a:r>
            <a:endParaRPr lang="pt-BR" altLang="en-US"/>
          </a:p>
          <a:p>
            <a:pPr algn="just"/>
            <a:endParaRPr lang="pt-BR" altLang="en-US"/>
          </a:p>
          <a:p>
            <a:pPr algn="just">
              <a:buFont typeface="Arial" panose="020B0604020202020204" pitchFamily="34" charset="0"/>
            </a:pPr>
            <a:r>
              <a:rPr lang="pt-BR" altLang="en-US"/>
              <a:t>a.Exemplo de Estrutura de Arquivos com Views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9290" y="1191260"/>
            <a:ext cx="4248785" cy="5278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</a:t>
            </a:r>
            <a:r>
              <a:rPr lang="pt-BR" altLang="en-US">
                <a:sym typeface="+mn-ea"/>
              </a:rPr>
              <a:t>2. Implementação de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3394710" cy="4351655"/>
          </a:xfrm>
        </p:spPr>
        <p:txBody>
          <a:bodyPr/>
          <a:p>
            <a:r>
              <a:rPr lang="pt-BR" altLang="en-US"/>
              <a:t>b. Exemplo de Views com EJS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i. Página de Login - login.ejs 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2410" y="1148080"/>
            <a:ext cx="7120890" cy="53606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3.</a:t>
            </a:r>
            <a:r>
              <a:rPr lang="pt-BR" altLang="en-US">
                <a:sym typeface="+mn-ea"/>
              </a:rPr>
              <a:t>2. Implementação de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4020185" cy="4351655"/>
          </a:xfrm>
        </p:spPr>
        <p:txBody>
          <a:bodyPr/>
          <a:p>
            <a:r>
              <a:rPr lang="pt-BR" altLang="en-US">
                <a:sym typeface="+mn-ea"/>
              </a:rPr>
              <a:t>b. Exemplo de Views com EJS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ii. Página de Registro - register.ejs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8520" y="1204595"/>
            <a:ext cx="6494780" cy="54006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3.2. Implementação de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2788285" cy="4351655"/>
          </a:xfrm>
        </p:spPr>
        <p:txBody>
          <a:bodyPr/>
          <a:p>
            <a:r>
              <a:rPr lang="pt-BR" altLang="en-US">
                <a:sym typeface="+mn-ea"/>
              </a:rPr>
              <a:t>b. Exemplo de Views com EJS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iii. Página de Dashboard - dashboard.ejs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6620" y="1217295"/>
            <a:ext cx="7726680" cy="43973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3.3. Motores de Template (Template Engines)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Um motor de template é uma ferramenta que permite a criação de páginas dinâmicas a partir de templates. Ele facilita a inserção de dados dinâmicos nas Views, permitindo a criação de HTML dinâmico com placeholders que são substituídos por valores reais no momento da renderização.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a. EJS (Embedded JavaScript)</a:t>
            </a:r>
            <a:endParaRPr lang="pt-BR" altLang="en-US" b="1"/>
          </a:p>
          <a:p>
            <a:pPr algn="just"/>
            <a:r>
              <a:rPr lang="pt-BR" altLang="en-US"/>
              <a:t>EJS é um motor de template simples e fácil de usar que permite a inserção de JavaScript dentro do HTML. No exemplo anterior, utilizamos EJS para renderizar uma variável user dentro da view </a:t>
            </a:r>
            <a:r>
              <a:rPr lang="pt-BR" altLang="en-US" i="1"/>
              <a:t>dashboard.ejs</a:t>
            </a:r>
            <a:r>
              <a:rPr lang="pt-BR" altLang="en-US"/>
              <a:t>.</a:t>
            </a:r>
            <a:endParaRPr lang="pt-B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3.3. Motores de Template (Template Engines)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 b="1"/>
              <a:t>b. Outros Motores de Template</a:t>
            </a:r>
            <a:endParaRPr lang="pt-BR" altLang="en-US" b="1"/>
          </a:p>
          <a:p>
            <a:pPr algn="just"/>
            <a:r>
              <a:rPr lang="pt-BR" altLang="en-US"/>
              <a:t>Além de EJS, existem vários outros motores de template que você pode utilizar, dependendo das suas necessidades: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Pug (anteriormente Jade)</a:t>
            </a:r>
            <a:r>
              <a:rPr lang="pt-BR" altLang="en-US"/>
              <a:t>: Um motor de template mais sofisticado que usa uma sintaxe baseada em indentação.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Handlebars</a:t>
            </a:r>
            <a:r>
              <a:rPr lang="pt-BR" altLang="en-US"/>
              <a:t>: Um motor de template que permite criar templates mais expressivos com helpers e partials.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Mustache</a:t>
            </a:r>
            <a:r>
              <a:rPr lang="pt-BR" altLang="en-US"/>
              <a:t>: Um motor de template simples que pode ser usado em várias linguagens de programação.</a:t>
            </a:r>
            <a:endParaRPr lang="pt-B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3.4. Passagem de Dados para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Os dados são geralmente passados do Controller para a View durante o processo de renderização. No Express.js, isso é feito através do método </a:t>
            </a:r>
            <a:r>
              <a:rPr lang="pt-BR" altLang="en-US" i="1"/>
              <a:t>res.render()</a:t>
            </a:r>
            <a:r>
              <a:rPr lang="pt-BR" altLang="en-US"/>
              <a:t>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Exemplo de </a:t>
            </a:r>
            <a:endParaRPr lang="pt-BR" altLang="en-US"/>
          </a:p>
          <a:p>
            <a:r>
              <a:rPr lang="pt-BR" altLang="en-US"/>
              <a:t>Passagem de Dados: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1890" y="2663190"/>
            <a:ext cx="7471410" cy="38328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</a:t>
            </a:r>
            <a:r>
              <a:rPr lang="pt-BR" altLang="en-US">
                <a:sym typeface="+mn-ea"/>
              </a:rPr>
              <a:t>5. Interatividade com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As Views também podem incluir elementos interativos, como formulários e botões, que permitem ao usuário enviar dados ou interagir com a aplicação. Esses elementos são processados pelos Controllers quando submetidos.</a:t>
            </a:r>
            <a:endParaRPr lang="pt-B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 Validação 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algn="just"/>
            <a:r>
              <a:rPr lang="pt-BR" altLang="en-US"/>
              <a:t>Validação é um processo fundamental pois garante que os dados fornecidos pelo usuário estejam corretos e consistentes antes de serem armazenados no banco de dados ou processados pela aplicação. 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Quando usamos validação, podemos evitar a inserção de dados incorretos, proteger contra ataques de </a:t>
            </a:r>
            <a:r>
              <a:rPr lang="pt-BR" altLang="en-US" i="1">
                <a:solidFill>
                  <a:schemeClr val="tx1"/>
                </a:solidFill>
              </a:rPr>
              <a:t>injeção de SQL ou XSS</a:t>
            </a:r>
            <a:r>
              <a:rPr lang="pt-BR" altLang="en-US"/>
              <a:t>, e melhorar a experiência do usuário fornecendo feedback sobre os erros de entrada. 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A injeção de SQL é uma técnica de ataque em que um invasor insere código SQL malicioso em entradas de dados de um aplicativo web, com o objetivo de manipular a lógica da aplicação e acessar ou modificar dados de forma não autorizada. O XSS é uma vulnerabilidade que permite que um atacante injete scripts maliciosos (geralmente JavaScript) em páginas web que são posteriormente carregadas em navegadores de outros usuários.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4.1. Tipos de Validação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Existem dois tipos princípais de validação, são eles:</a:t>
            </a:r>
            <a:endParaRPr lang="pt-BR" altLang="en-US"/>
          </a:p>
          <a:p>
            <a:pPr algn="just"/>
            <a:r>
              <a:rPr lang="pt-BR" altLang="en-US" b="1"/>
              <a:t>4.1.1. Validação no lado do cliente (</a:t>
            </a:r>
            <a:r>
              <a:rPr lang="pt-BR" altLang="en-US" b="1" i="1"/>
              <a:t>Client-side validation</a:t>
            </a:r>
            <a:r>
              <a:rPr lang="pt-BR" altLang="en-US" b="1"/>
              <a:t>):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Feita no navegador, antes de os dados serem enviados para o servidor.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Usada para fornecer uma resposta rápida ao usuário.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Pode ser implementada usando HTML (atributos </a:t>
            </a:r>
            <a:r>
              <a:rPr lang="pt-BR" altLang="en-US" i="1"/>
              <a:t>required</a:t>
            </a:r>
            <a:r>
              <a:rPr lang="pt-BR" altLang="en-US"/>
              <a:t>, </a:t>
            </a:r>
            <a:r>
              <a:rPr lang="pt-BR" altLang="en-US" i="1"/>
              <a:t>min</a:t>
            </a:r>
            <a:r>
              <a:rPr lang="pt-BR" altLang="en-US"/>
              <a:t>, </a:t>
            </a:r>
            <a:r>
              <a:rPr lang="pt-BR" altLang="en-US" i="1"/>
              <a:t>max</a:t>
            </a:r>
            <a:r>
              <a:rPr lang="pt-BR" altLang="en-US"/>
              <a:t>, etc), Javascript ou frameworks como React, Vue.js.</a:t>
            </a:r>
            <a:endParaRPr lang="pt-BR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4.1. Tipos de Validação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4.1.2. Validação no lado do servidor (</a:t>
            </a:r>
            <a:r>
              <a:rPr lang="pt-BR" altLang="en-US" b="1" i="1"/>
              <a:t>Server-side validation</a:t>
            </a:r>
            <a:r>
              <a:rPr lang="pt-BR" altLang="en-US" b="1"/>
              <a:t>):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Feita no servidor, depois que os dados são enviados.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Considerada mais segura, pois os dados ainda podem ser alterados ou manipulados no lado do cliente.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Implementada diretamente no backend (Node.js, PHP, etc.), garantindo que apenas dados válidos entrem no sistema. </a:t>
            </a:r>
            <a:endParaRPr lang="pt-B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4.2. Exemplos de Validação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 b="1"/>
              <a:t>4.2.1. Obrigatoriedade de Campo</a:t>
            </a:r>
            <a:r>
              <a:rPr lang="pt-BR" altLang="en-US"/>
              <a:t>: Garantir que um campo necessário seja preenchido.</a:t>
            </a:r>
            <a:endParaRPr lang="pt-BR" altLang="en-US"/>
          </a:p>
          <a:p>
            <a:pPr algn="just"/>
            <a:r>
              <a:rPr lang="pt-BR" altLang="en-US" b="1"/>
              <a:t>4.2.2. Formato de E-mail</a:t>
            </a:r>
            <a:r>
              <a:rPr lang="pt-BR" altLang="en-US"/>
              <a:t>: Verificar de o campo de e-mail contém um formato válido (</a:t>
            </a:r>
            <a:r>
              <a:rPr lang="pt-BR" altLang="en-US" i="1"/>
              <a:t>usuario@dominio.com</a:t>
            </a:r>
            <a:r>
              <a:rPr lang="pt-BR" altLang="en-US"/>
              <a:t>).</a:t>
            </a:r>
            <a:endParaRPr lang="pt-BR" altLang="en-US"/>
          </a:p>
          <a:p>
            <a:pPr algn="just"/>
            <a:r>
              <a:rPr lang="pt-BR" altLang="en-US" b="1"/>
              <a:t>4.2.3. Comprimento do Texto</a:t>
            </a:r>
            <a:r>
              <a:rPr lang="pt-BR" altLang="en-US"/>
              <a:t>: Limitar o número de caracteres em um campo de texto (mínimo e/ou máximo)</a:t>
            </a:r>
            <a:endParaRPr lang="pt-BR" altLang="en-US"/>
          </a:p>
          <a:p>
            <a:pPr algn="just"/>
            <a:r>
              <a:rPr lang="pt-BR" altLang="en-US" b="1"/>
              <a:t>4.2.4. Numérico</a:t>
            </a:r>
            <a:r>
              <a:rPr lang="pt-BR" altLang="en-US"/>
              <a:t>: Verificar se o valo fornecido é numérico e, opcionalmente, dentro de um intervalo específico. </a:t>
            </a:r>
            <a:endParaRPr lang="pt-BR" altLang="en-US"/>
          </a:p>
          <a:p>
            <a:pPr algn="just"/>
            <a:r>
              <a:rPr lang="pt-BR" altLang="en-US" b="1"/>
              <a:t>4.2.5. Confirmar Senha</a:t>
            </a:r>
            <a:r>
              <a:rPr lang="pt-BR" altLang="en-US"/>
              <a:t>: Comparar dois campo (ex.: senha e confirmação de senha) para garantir que os valores correspondem. </a:t>
            </a:r>
            <a:endParaRPr lang="pt-B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4.3. Validação no Lado do Servidor com JavaScript (Node.js)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4.3.1. Exemplo de Validação Usando Express Validator:</a:t>
            </a:r>
            <a:endParaRPr lang="pt-BR" altLang="en-US" b="1"/>
          </a:p>
          <a:p>
            <a:pPr algn="just"/>
            <a:r>
              <a:rPr lang="pt-BR" altLang="en-US"/>
              <a:t>No Node.js, uma biblioteca popular para validação é o Express Validator. Ela fornece uma maneira simples de validar os dados enviados em uma requisição.</a:t>
            </a:r>
            <a:endParaRPr lang="pt-BR" altLang="en-US"/>
          </a:p>
          <a:p>
            <a:pPr algn="just"/>
            <a:endParaRPr lang="pt-BR" altLang="en-US" i="1"/>
          </a:p>
          <a:p>
            <a:pPr algn="just"/>
            <a:r>
              <a:rPr lang="pt-BR" altLang="en-US" i="1"/>
              <a:t>npm install express-validator</a:t>
            </a:r>
            <a:endParaRPr lang="pt-BR" altLang="en-US" i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>
                <a:sym typeface="+mn-ea"/>
              </a:rPr>
              <a:t>4.3. Validação no Lado do Servidor com JavaScript (Node.js)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8305165" cy="4351655"/>
          </a:xfrm>
        </p:spPr>
        <p:txBody>
          <a:bodyPr/>
          <a:p>
            <a:r>
              <a:rPr lang="pt-BR" altLang="en-US" b="1"/>
              <a:t>4.3.2.Exemplo de Código de Validação no Servidor:</a:t>
            </a:r>
            <a:endParaRPr lang="pt-BR" altLang="en-US" b="1"/>
          </a:p>
          <a:p>
            <a:pPr algn="just"/>
            <a:r>
              <a:rPr lang="pt-BR" altLang="en-US"/>
              <a:t>Vamos implementar um exemplo básico de validação em um formulário de cadastro de usuários. O formulário deve validar o nome, e-mail e senha.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Estrutura:</a:t>
            </a: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970" y="1750060"/>
            <a:ext cx="2909570" cy="44272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userController.js: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8670" y="1254125"/>
            <a:ext cx="7694295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Rotas (index.js):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2020" y="1251585"/>
            <a:ext cx="9966960" cy="542226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View (register.ejs):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76495" y="258445"/>
            <a:ext cx="6186170" cy="644334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app.js: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8610" y="1242060"/>
            <a:ext cx="865378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4.4. Funcionamento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4.4.1. Quando o usuário acessa a rota /register, ele verá um formulário para inserir nome, e-mail e senha.</a:t>
            </a:r>
            <a:endParaRPr lang="pt-BR" altLang="en-US"/>
          </a:p>
          <a:p>
            <a:pPr algn="just"/>
            <a:r>
              <a:rPr lang="pt-BR" altLang="en-US"/>
              <a:t>4.4.2. Ao submeter o formulário, o express-validator verifica se: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O nome não está vazio.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O e-mail tem um formato válido.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A senha tem pelo menos 6 caracteres.</a:t>
            </a:r>
            <a:endParaRPr lang="pt-BR" altLang="en-US"/>
          </a:p>
          <a:p>
            <a:pPr algn="just"/>
            <a:r>
              <a:rPr lang="pt-BR" altLang="en-US"/>
              <a:t>4.4.3. Se houver erros, eles serão exibidos no topo da página com as mensagens correspondentes.</a:t>
            </a:r>
            <a:endParaRPr lang="pt-BR" altLang="en-US"/>
          </a:p>
          <a:p>
            <a:pPr algn="just"/>
            <a:r>
              <a:rPr lang="pt-BR" altLang="en-US"/>
              <a:t>4.4.4. Se não houver erros, uma mensagem de sucesso será exibida.</a:t>
            </a:r>
            <a:endParaRPr lang="pt-BR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4.5. Outras Validações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Validação Customizada</a:t>
            </a:r>
            <a:r>
              <a:rPr lang="pt-BR" altLang="en-US"/>
              <a:t>: Você pode criar regras de validação personalizadas, por exemplo, garantir que o nome de usuário seja único no banco de dados.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605" y="3098800"/>
            <a:ext cx="8352155" cy="347281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pt-BR" altLang="en-US">
                <a:sym typeface="+mn-ea"/>
              </a:rPr>
              <a:t>4.5. Outras Validações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Validação de Campos Relacionados</a:t>
            </a:r>
            <a:r>
              <a:rPr lang="pt-BR" altLang="en-US"/>
              <a:t>: Comparar valores de dois campos, como confirmar senha: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8370" y="2720975"/>
            <a:ext cx="7414895" cy="35179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 Sessão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Sessão é uma forma de armazenar informações sobre um usuário durante a interação com uma aplicação web, permitindo que o servidor "lembre" dados entre diferentes requisições HTTP. 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As sessões são fundamentais para gerenciar estados entre diferentes requisições HTTP, já que o protocolo HTTP é stateless (sem estado), o que significa que, por padrão, cada requisição é independente e o servidor não tem memória do que aconteceu anteriormente.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5.1 Cenários para utilizar Sessão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5.1.1. Autenticação de usuários (login/logout).</a:t>
            </a:r>
            <a:endParaRPr lang="pt-BR" altLang="en-US"/>
          </a:p>
          <a:p>
            <a:r>
              <a:rPr lang="pt-BR" altLang="en-US"/>
              <a:t>5.1.2. Carrinhos de compra em e-commerce.</a:t>
            </a:r>
            <a:endParaRPr lang="pt-BR" altLang="en-US"/>
          </a:p>
          <a:p>
            <a:r>
              <a:rPr lang="pt-BR" altLang="en-US"/>
              <a:t>5.1.3. Manter preferências do usuário durante a navegação.</a:t>
            </a:r>
            <a:endParaRPr lang="pt-BR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5.2. Funcionamento de uma Sessão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5.2.1.</a:t>
            </a:r>
            <a:r>
              <a:rPr lang="pt-BR" altLang="en-US"/>
              <a:t> Cliente (navegador) faz uma requisição ao servidor.</a:t>
            </a:r>
            <a:endParaRPr lang="pt-BR" altLang="en-US"/>
          </a:p>
          <a:p>
            <a:pPr algn="just"/>
            <a:r>
              <a:rPr lang="pt-BR" altLang="en-US" b="1"/>
              <a:t>5.2.2.</a:t>
            </a:r>
            <a:r>
              <a:rPr lang="pt-BR" altLang="en-US"/>
              <a:t> O servidor cria uma sessão com um identificador exclusivo (ID da sessão) e armazena dados associados a essa sessão (por exemplo, o ID do usuário, informações de autenticação, etc.).</a:t>
            </a:r>
            <a:endParaRPr lang="pt-BR" altLang="en-US"/>
          </a:p>
          <a:p>
            <a:pPr algn="just"/>
            <a:r>
              <a:rPr lang="pt-BR" altLang="en-US" b="1"/>
              <a:t>5.2.3.</a:t>
            </a:r>
            <a:r>
              <a:rPr lang="pt-BR" altLang="en-US"/>
              <a:t> O servidor envia o ID da sessão para o cliente na resposta, geralmente armazenando-o em um cookie.</a:t>
            </a:r>
            <a:endParaRPr lang="pt-BR" altLang="en-US"/>
          </a:p>
          <a:p>
            <a:pPr algn="just"/>
            <a:r>
              <a:rPr lang="pt-BR" altLang="en-US" b="1"/>
              <a:t>5.2.4.</a:t>
            </a:r>
            <a:r>
              <a:rPr lang="pt-BR" altLang="en-US"/>
              <a:t> Em cada requisição subsequente, o cliente envia o cookie com o ID da sessão ao servidor, que, por sua vez, recupera os dados da sessão associados ao ID e continua a interação.</a:t>
            </a:r>
            <a:endParaRPr lang="pt-BR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5.3. Sessão vs Cookies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5.3.1. Sessão</a:t>
            </a:r>
            <a:r>
              <a:rPr lang="pt-BR" altLang="en-US"/>
              <a:t>: Armazena dados do lado do servidor e mantém apenas o identificador da sessão no cliente (via cookie). Mais seguro para armazenar dados sensíveis.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5.3.2. Cookies</a:t>
            </a:r>
            <a:r>
              <a:rPr lang="pt-BR" altLang="en-US"/>
              <a:t>: Armazenam dados diretamente no navegador. Mais expostos a riscos de segurança, como roubo de cookies, se não forem configurados corretamente (por exemplo, cookies não criptografados).</a:t>
            </a:r>
            <a:endParaRPr lang="pt-BR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5.4. Implementação de Sessões no Node.js com express-session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A biblioteca express-session é uma das formas mais populares de gerenciar sessões no Node.js.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Instalação: npm install express-session</a:t>
            </a:r>
            <a:endParaRPr lang="pt-BR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 Exemplo Completo de Uso de Sessões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Desenvolvimento de um exemplo básico de login e logout utilizando sessões.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Estrutura do Projeto: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070" y="2397760"/>
            <a:ext cx="336423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pt-BR" altLang="en-US"/>
              <a:t>5.5.1. Configuração da Sessão (app.js)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Vamos configurar a sessão no arquivo app.js, que é o ponto de entrada da aplicação.</a:t>
            </a:r>
            <a:endParaRPr lang="pt-BR" altLang="en-US"/>
          </a:p>
          <a:p>
            <a:endParaRPr lang="pt-BR" altLang="en-US"/>
          </a:p>
          <a:p>
            <a:endParaRPr lang="pt-BR" alt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1295" y="2216150"/>
            <a:ext cx="7152005" cy="46418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5.5.1. Configuração da Sessão (app.js) Cont...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4910" y="1322705"/>
            <a:ext cx="944118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5.5.2. Rotas de Autenticação (auth.js)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099185"/>
            <a:ext cx="10515600" cy="5078095"/>
          </a:xfrm>
        </p:spPr>
        <p:txBody>
          <a:bodyPr/>
          <a:p>
            <a:r>
              <a:rPr lang="pt-BR" altLang="en-US"/>
              <a:t>Este arquivo gerencia as rotas para login, logout e dashboard.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0005" y="1584325"/>
            <a:ext cx="7031990" cy="519493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5.5.2. Rotas de Autenticação (auth.js) Cont...</a:t>
            </a:r>
            <a:endParaRPr lang="pt-BR" altLang="en-US"/>
          </a:p>
        </p:txBody>
      </p:sp>
      <p:pic>
        <p:nvPicPr>
          <p:cNvPr id="6" name="Espaço Reservado para Conteúdo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62175" y="1308735"/>
            <a:ext cx="7867650" cy="548513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5.5.2. Rotas de Autenticação (auth.js) Cont...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7315" y="1382395"/>
            <a:ext cx="6743700" cy="542099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5.5.3. Views (Templates)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7250" y="1358900"/>
            <a:ext cx="10478135" cy="54133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5.5.4. login.ejs – Página de Login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64385" y="1224915"/>
            <a:ext cx="7681595" cy="558101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5.5.5. dashboard.ejs – Página de Dashboard (Apenas para usuários logados)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4150" y="1424940"/>
            <a:ext cx="9424670" cy="536384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5.5.6. Funcionamento do Projeto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 b="1"/>
              <a:t>5.5.6.1. Página inicial (/)</a:t>
            </a:r>
            <a:r>
              <a:rPr lang="pt-BR" altLang="en-US"/>
              <a:t>: Exibe uma página simples com um link para login.</a:t>
            </a:r>
            <a:endParaRPr lang="pt-BR" altLang="en-US"/>
          </a:p>
          <a:p>
            <a:pPr algn="just"/>
            <a:r>
              <a:rPr lang="pt-BR" altLang="en-US" b="1"/>
              <a:t>5.5.6.2. Página de login (/login)</a:t>
            </a:r>
            <a:r>
              <a:rPr lang="pt-BR" altLang="en-US"/>
              <a:t>: O usuário insere suas credenciais. Se forem válidas, uma sessão é criada e o usuário é redirecionado para o dashboard.</a:t>
            </a:r>
            <a:endParaRPr lang="pt-BR" altLang="en-US"/>
          </a:p>
          <a:p>
            <a:pPr algn="just"/>
            <a:r>
              <a:rPr lang="pt-BR" altLang="en-US" b="1"/>
              <a:t>5.5.6.3. Dashboard (/dashboard)</a:t>
            </a:r>
            <a:r>
              <a:rPr lang="pt-BR" altLang="en-US"/>
              <a:t>: Se o usuário estiver logado (ou seja, uma sessão existir), a página de dashboard será exibida com uma saudação ao usuário. Caso contrário, o usuário será redirecionado para a página de login.</a:t>
            </a:r>
            <a:endParaRPr lang="pt-BR" altLang="en-US"/>
          </a:p>
          <a:p>
            <a:pPr algn="just"/>
            <a:r>
              <a:rPr lang="pt-BR" altLang="en-US" b="1"/>
              <a:t>5.5.6.4. Logout</a:t>
            </a:r>
            <a:r>
              <a:rPr lang="pt-BR" altLang="en-US"/>
              <a:t>: Quando o usuário clica em logout, a sessão é destruída e ele é redirecionado para a página inicial.</a:t>
            </a:r>
            <a:endParaRPr lang="pt-BR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5.6. Configuração de Sessão Expirada (TTL - Time to Live)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É possível definir uma duração para a sessão, após a qual ela expira automaticamente. Isso é útil para garantir que as sessões não durem indefinidamente e para proteger contra sessões inativas.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660" y="3147060"/>
            <a:ext cx="7092315" cy="342519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5.6.1. Armazenamento de Sessões em um Banco de Dados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Por padrão, as sessões são armazenadas na memória, o que é adequado para desenvolvimento, mas não para produção. Para armazenar sessões em um banco de dados (por exemplo, Redis, MongoDB), podemos utilizar adaptadores de sessão como:</a:t>
            </a:r>
            <a:endParaRPr lang="pt-BR" altLang="en-US"/>
          </a:p>
          <a:p>
            <a:endParaRPr lang="pt-BR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en-US" b="1"/>
              <a:t>connect-redis</a:t>
            </a:r>
            <a:r>
              <a:rPr lang="pt-BR" altLang="en-US"/>
              <a:t>: Para armazenar sessões no Redis.</a:t>
            </a:r>
            <a:endParaRPr lang="pt-BR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en-US" b="1"/>
              <a:t>connect-mongo</a:t>
            </a:r>
            <a:r>
              <a:rPr lang="pt-BR" altLang="en-US"/>
              <a:t>: Para armazenar sessões no MongoDB.</a:t>
            </a:r>
            <a:endParaRPr lang="pt-BR" altLang="en-US"/>
          </a:p>
          <a:p>
            <a:endParaRPr lang="pt-BR" altLang="en-US"/>
          </a:p>
          <a:p>
            <a:r>
              <a:rPr lang="pt-BR" altLang="en-US" b="1"/>
              <a:t>Exemplo de uso com Redis</a:t>
            </a:r>
            <a:r>
              <a:rPr lang="pt-BR" altLang="en-US"/>
              <a:t>: </a:t>
            </a:r>
            <a:r>
              <a:rPr lang="pt-BR" altLang="en-US" i="1"/>
              <a:t>npm install connect-redis redis</a:t>
            </a:r>
            <a:endParaRPr lang="pt-BR" altLang="en-US" i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5.6.2. Exemplo utilizando Redis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3589655" cy="4351655"/>
          </a:xfrm>
        </p:spPr>
        <p:txBody>
          <a:bodyPr>
            <a:normAutofit lnSpcReduction="20000"/>
          </a:bodyPr>
          <a:p>
            <a:pPr algn="r"/>
            <a:r>
              <a:rPr lang="pt-BR" altLang="en-US"/>
              <a:t>Redis é um armazenamento de estrutura de dados em memória, usado como um banco de dados em memória distribuído de chave-valor, cache e agente de mensagens, com durabilidade opcional.</a:t>
            </a:r>
            <a:endParaRPr lang="pt-BR" altLang="en-US"/>
          </a:p>
          <a:p>
            <a:pPr algn="r"/>
            <a:endParaRPr lang="pt-BR" altLang="en-US"/>
          </a:p>
          <a:p>
            <a:pPr algn="r"/>
            <a:r>
              <a:rPr lang="pt-BR" altLang="en-US"/>
              <a:t>https://redis.io/</a:t>
            </a:r>
            <a:endParaRPr lang="pt-BR" alt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7355" y="1842135"/>
            <a:ext cx="7954645" cy="501586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5.6.3. Considerações de Segurança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Cookie Secure</a:t>
            </a:r>
            <a:r>
              <a:rPr lang="pt-BR" altLang="en-US"/>
              <a:t>: Habilitar a opção </a:t>
            </a:r>
            <a:r>
              <a:rPr lang="pt-BR" altLang="en-US" i="1"/>
              <a:t>cookie: { secure: true }</a:t>
            </a:r>
            <a:r>
              <a:rPr lang="pt-BR" altLang="en-US"/>
              <a:t> em produção para garantir que os cookies de sessão sejam transmitidos apenas por HTTPS.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SameSite</a:t>
            </a:r>
            <a:r>
              <a:rPr lang="pt-BR" altLang="en-US"/>
              <a:t>: O parâmetro </a:t>
            </a:r>
            <a:r>
              <a:rPr lang="pt-BR" altLang="en-US" i="1"/>
              <a:t>SameSite </a:t>
            </a:r>
            <a:r>
              <a:rPr lang="pt-BR" altLang="en-US"/>
              <a:t>pode ser configurado no cookie para proteger contra ataques CSRF (</a:t>
            </a:r>
            <a:r>
              <a:rPr lang="pt-BR" altLang="en-US" i="1"/>
              <a:t>Cross-Site Request Forgery</a:t>
            </a:r>
            <a:r>
              <a:rPr lang="pt-BR" altLang="en-US"/>
              <a:t>).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Limite de Duração</a:t>
            </a:r>
            <a:r>
              <a:rPr lang="pt-BR" altLang="en-US"/>
              <a:t>: Configure a expiração de sessões (</a:t>
            </a:r>
            <a:r>
              <a:rPr lang="pt-BR" altLang="en-US" i="1"/>
              <a:t>maxAge</a:t>
            </a:r>
            <a:r>
              <a:rPr lang="pt-BR" altLang="en-US"/>
              <a:t>) para garantir que sessões antigas não fiquem ativas indefinidamente.</a:t>
            </a:r>
            <a:endParaRPr lang="pt-BR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 </a:t>
            </a:r>
            <a:r>
              <a:rPr lang="pt-BR" altLang="en-US">
                <a:sym typeface="+mn-ea"/>
              </a:rPr>
              <a:t>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pt-BR" altLang="en-US"/>
              <a:t>Roteamento (</a:t>
            </a:r>
            <a:r>
              <a:rPr lang="pt-BR" altLang="en-US" i="1"/>
              <a:t>routing</a:t>
            </a:r>
            <a:r>
              <a:rPr lang="pt-BR" altLang="en-US"/>
              <a:t>) é o processo de definir como as requisições HTTP são tratadas pela aplicação. </a:t>
            </a:r>
            <a:endParaRPr lang="pt-BR" altLang="en-US"/>
          </a:p>
          <a:p>
            <a:pPr algn="just"/>
            <a:r>
              <a:rPr lang="pt-BR" altLang="en-US"/>
              <a:t>Em aplicações web, o roteamento mapeia URLs específicas para diferentes controladores (</a:t>
            </a:r>
            <a:r>
              <a:rPr lang="pt-BR" altLang="en-US" i="1"/>
              <a:t>controllers</a:t>
            </a:r>
            <a:r>
              <a:rPr lang="pt-BR" altLang="en-US"/>
              <a:t>) e ações (</a:t>
            </a:r>
            <a:r>
              <a:rPr lang="pt-BR" altLang="en-US" i="1"/>
              <a:t>functions</a:t>
            </a:r>
            <a:r>
              <a:rPr lang="pt-BR" altLang="en-US"/>
              <a:t>). </a:t>
            </a:r>
            <a:endParaRPr lang="pt-BR" altLang="en-US"/>
          </a:p>
          <a:p>
            <a:pPr algn="just"/>
            <a:r>
              <a:rPr lang="pt-BR" altLang="en-US"/>
              <a:t>Quando uma requisição chega ao servidor, o roteador decide qual lógica de negócios ou qual parte do código deve ser executada, com base na URL e no método HTTP (GET, POST, PUT, DELETE, etc.).</a:t>
            </a:r>
            <a:endParaRPr lang="pt-BR" altLang="en-US"/>
          </a:p>
          <a:p>
            <a:pPr algn="just"/>
            <a:r>
              <a:rPr lang="pt-BR" altLang="en-US"/>
              <a:t>Em um sistema MVC (</a:t>
            </a:r>
            <a:r>
              <a:rPr lang="pt-BR" altLang="en-US" i="1"/>
              <a:t>Model-View-Controller</a:t>
            </a:r>
            <a:r>
              <a:rPr lang="pt-BR" altLang="en-US"/>
              <a:t>), o roteamento desempenha um papel fundamental na determinação de qual controller deve ser invocado para cada URL. </a:t>
            </a:r>
            <a:endParaRPr lang="pt-BR" altLang="en-US"/>
          </a:p>
          <a:p>
            <a:pPr algn="just"/>
            <a:r>
              <a:rPr lang="pt-BR" altLang="en-US"/>
              <a:t>O roteamento pode, então, chamar métodos específicos dentro dos controllers, com base no que o usuário está tentando acessar.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6.1. Conceitos Básicos do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6.1.1. Rota</a:t>
            </a:r>
            <a:r>
              <a:rPr lang="pt-BR" altLang="en-US"/>
              <a:t>: Uma rota é um caminho que corresponde a uma URL. </a:t>
            </a:r>
            <a:endParaRPr lang="pt-BR" altLang="en-US"/>
          </a:p>
          <a:p>
            <a:pPr algn="just"/>
            <a:r>
              <a:rPr lang="pt-BR" altLang="en-US"/>
              <a:t>Por exemplo, </a:t>
            </a:r>
            <a:r>
              <a:rPr lang="pt-BR" altLang="en-US" i="1"/>
              <a:t>/home</a:t>
            </a:r>
            <a:r>
              <a:rPr lang="pt-BR" altLang="en-US"/>
              <a:t>, </a:t>
            </a:r>
            <a:r>
              <a:rPr lang="pt-BR" altLang="en-US" i="1"/>
              <a:t>/login</a:t>
            </a:r>
            <a:r>
              <a:rPr lang="pt-BR" altLang="en-US"/>
              <a:t>, </a:t>
            </a:r>
            <a:r>
              <a:rPr lang="pt-BR" altLang="en-US" i="1"/>
              <a:t>/user/profile</a:t>
            </a:r>
            <a:r>
              <a:rPr lang="pt-BR" altLang="en-US"/>
              <a:t>.</a:t>
            </a:r>
            <a:endParaRPr lang="pt-BR" altLang="en-US"/>
          </a:p>
          <a:p>
            <a:pPr algn="just"/>
            <a:r>
              <a:rPr lang="pt-BR" altLang="en-US" b="1"/>
              <a:t>6.1.2. Métodos HTTP</a:t>
            </a:r>
            <a:r>
              <a:rPr lang="pt-BR" altLang="en-US"/>
              <a:t>: São as operações ou ações que podem ser realizadas em uma URL. Os métodos mais comuns são: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GET</a:t>
            </a:r>
            <a:r>
              <a:rPr lang="pt-BR" altLang="en-US"/>
              <a:t>: Para obter dados do servidor (ex.: carregar uma página).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POST</a:t>
            </a:r>
            <a:r>
              <a:rPr lang="pt-BR" altLang="en-US"/>
              <a:t>: Para enviar dados ao servidor (ex.: formulário de login).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PUT</a:t>
            </a:r>
            <a:r>
              <a:rPr lang="pt-BR" altLang="en-US"/>
              <a:t>: Para atualizar um recurso existente.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DELETE</a:t>
            </a:r>
            <a:r>
              <a:rPr lang="pt-BR" altLang="en-US"/>
              <a:t>: Para deletar um recurso no servidor.</a:t>
            </a:r>
            <a:endParaRPr lang="pt-BR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6.2. Roteamento no Express.js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algn="just"/>
            <a:r>
              <a:rPr lang="pt-BR" altLang="en-US"/>
              <a:t>No Node.js, uma das bibliotecas mais usadas para criar servidores HTTP e gerenciar roteamento é o Express.js. Ele oferece uma maneira simples de definir rotas e associá-las a funções específicas. </a:t>
            </a:r>
            <a:r>
              <a:rPr lang="pt-BR" altLang="en-US" i="1"/>
              <a:t>https://expressjs.com/pt-br/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Aplicativos da Web</a:t>
            </a:r>
            <a:r>
              <a:rPr lang="pt-BR" altLang="en-US"/>
              <a:t>: O Express é um framework para aplicativo da web do Node.js mínimo e flexível que fornece um conjunto robusto de recursos para aplicativos web e móveis.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APIs</a:t>
            </a:r>
            <a:r>
              <a:rPr lang="pt-BR" altLang="en-US"/>
              <a:t>: Com uma infinidade de métodos utilitários HTTP e middleware à sua disposição, criar uma API robusta é rápido e fácil.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Desempenho</a:t>
            </a:r>
            <a:r>
              <a:rPr lang="pt-BR" altLang="en-US"/>
              <a:t>: O Express fornece uma camada fina de recursos fundamentais para aplicativos da web, sem obscurecer os recursos do Node.js que você conhece e ama.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Middleware</a:t>
            </a:r>
            <a:r>
              <a:rPr lang="pt-BR" altLang="en-US"/>
              <a:t>: Express é uma estrutura de roteamento leve e flexível com recursos básicos e mínimos que devem ser aumentados por meio do uso do módulo Express middleware.</a:t>
            </a:r>
            <a:endParaRPr lang="pt-BR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6.3. Estrutura de uma Rota no Express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pt-BR" altLang="en-US"/>
              <a:t>Cada rota é composta por:</a:t>
            </a:r>
            <a:endParaRPr lang="pt-BR" altLang="en-US"/>
          </a:p>
          <a:p>
            <a:r>
              <a:rPr lang="pt-BR" altLang="en-US" b="1"/>
              <a:t>6.3.1. Método HTTP</a:t>
            </a:r>
            <a:r>
              <a:rPr lang="pt-BR" altLang="en-US"/>
              <a:t>: Como </a:t>
            </a:r>
            <a:r>
              <a:rPr lang="pt-BR" altLang="en-US" i="1"/>
              <a:t>GET</a:t>
            </a:r>
            <a:r>
              <a:rPr lang="pt-BR" altLang="en-US"/>
              <a:t>, </a:t>
            </a:r>
            <a:r>
              <a:rPr lang="pt-BR" altLang="en-US" i="1"/>
              <a:t>POST</a:t>
            </a:r>
            <a:r>
              <a:rPr lang="pt-BR" altLang="en-US"/>
              <a:t>, </a:t>
            </a:r>
            <a:r>
              <a:rPr lang="pt-BR" altLang="en-US" i="1"/>
              <a:t>PUT</a:t>
            </a:r>
            <a:r>
              <a:rPr lang="pt-BR" altLang="en-US"/>
              <a:t>, etc.</a:t>
            </a:r>
            <a:endParaRPr lang="pt-BR" altLang="en-US"/>
          </a:p>
          <a:p>
            <a:r>
              <a:rPr lang="pt-BR" altLang="en-US" b="1"/>
              <a:t>6.3.2. Caminho da URL</a:t>
            </a:r>
            <a:r>
              <a:rPr lang="pt-BR" altLang="en-US"/>
              <a:t>: O caminho que será acessado, como </a:t>
            </a:r>
            <a:r>
              <a:rPr lang="pt-BR" altLang="en-US" i="1"/>
              <a:t>/login</a:t>
            </a:r>
            <a:r>
              <a:rPr lang="pt-BR" altLang="en-US"/>
              <a:t> ou </a:t>
            </a:r>
            <a:r>
              <a:rPr lang="pt-BR" altLang="en-US" i="1"/>
              <a:t>/users</a:t>
            </a:r>
            <a:r>
              <a:rPr lang="pt-BR" altLang="en-US"/>
              <a:t>.</a:t>
            </a:r>
            <a:endParaRPr lang="pt-BR" altLang="en-US"/>
          </a:p>
          <a:p>
            <a:r>
              <a:rPr lang="pt-BR" altLang="en-US" b="1"/>
              <a:t>6.3.3. Handler (Controlador)</a:t>
            </a:r>
            <a:r>
              <a:rPr lang="pt-BR" altLang="en-US"/>
              <a:t>: A função que será executada quando essa rota for chamada.</a:t>
            </a:r>
            <a:endParaRPr lang="pt-BR" altLang="en-US"/>
          </a:p>
          <a:p>
            <a:r>
              <a:rPr lang="pt-BR" altLang="en-US" b="1"/>
              <a:t>app</a:t>
            </a:r>
            <a:r>
              <a:rPr lang="pt-BR" altLang="en-US"/>
              <a:t>: O objeto da aplicação Express.</a:t>
            </a:r>
            <a:endParaRPr lang="pt-BR" altLang="en-US"/>
          </a:p>
          <a:p>
            <a:r>
              <a:rPr lang="pt-BR" altLang="en-US" b="1"/>
              <a:t>METHOD</a:t>
            </a:r>
            <a:r>
              <a:rPr lang="pt-BR" altLang="en-US"/>
              <a:t>: O método HTTP (GET, POST, etc.).</a:t>
            </a:r>
            <a:endParaRPr lang="pt-BR" altLang="en-US"/>
          </a:p>
          <a:p>
            <a:r>
              <a:rPr lang="pt-BR" altLang="en-US" b="1"/>
              <a:t>PATH</a:t>
            </a:r>
            <a:r>
              <a:rPr lang="pt-BR" altLang="en-US"/>
              <a:t>: A URL que será acessada.</a:t>
            </a:r>
            <a:endParaRPr lang="pt-BR" altLang="en-US"/>
          </a:p>
          <a:p>
            <a:r>
              <a:rPr lang="pt-BR" altLang="en-US" b="1"/>
              <a:t>HANDLER</a:t>
            </a:r>
            <a:r>
              <a:rPr lang="pt-BR" altLang="en-US"/>
              <a:t>: A função que será executada.</a:t>
            </a: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850" y="4182745"/>
            <a:ext cx="4108450" cy="199453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6.4. Exemplo Simples de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3415" y="1192530"/>
            <a:ext cx="5424170" cy="566547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6.5. Roteamento Dinâmico com Parâmetros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Em muitas situações, é necessário capturar partes dinâmicas da URL. </a:t>
            </a:r>
            <a:endParaRPr lang="pt-BR" altLang="en-US"/>
          </a:p>
          <a:p>
            <a:pPr algn="just"/>
            <a:r>
              <a:rPr lang="pt-BR" altLang="en-US"/>
              <a:t>Por exemplo, em uma aplicação de gerenciamento de usuários, pode ser necessário uma rota para acessar o perfil de um usuário específico, onde a URL seria algo como </a:t>
            </a:r>
            <a:r>
              <a:rPr lang="pt-BR" altLang="en-US" i="1"/>
              <a:t>/users/123</a:t>
            </a:r>
            <a:r>
              <a:rPr lang="pt-BR" altLang="en-US"/>
              <a:t>, onde </a:t>
            </a:r>
            <a:r>
              <a:rPr lang="pt-BR" altLang="en-US" i="1"/>
              <a:t>123 </a:t>
            </a:r>
            <a:r>
              <a:rPr lang="pt-BR" altLang="en-US"/>
              <a:t>é o ID do usuário.</a:t>
            </a:r>
            <a:endParaRPr lang="pt-BR" altLang="en-US"/>
          </a:p>
          <a:p>
            <a:pPr algn="just"/>
            <a:r>
              <a:rPr lang="pt-BR" altLang="en-US"/>
              <a:t>O Express permite a criação de rotas dinâmicas usando parâmetros de rota, que são definidos com ‘</a:t>
            </a:r>
            <a:r>
              <a:rPr lang="pt-BR" altLang="en-US" i="1"/>
              <a:t>:’</a:t>
            </a:r>
            <a:r>
              <a:rPr lang="pt-BR" altLang="en-US"/>
              <a:t>. Esses parâmetros podem ser acessados dentro do handler da rota.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6.6. Exemplo de Roteamento com Parâmetros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973580"/>
            <a:ext cx="10515600" cy="405447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6.6. Exemplo de Roteamento com Parâmetros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Se um usuário acessar a URL </a:t>
            </a:r>
            <a:r>
              <a:rPr lang="pt-BR" altLang="en-US" i="1"/>
              <a:t>/users/123</a:t>
            </a:r>
            <a:r>
              <a:rPr lang="pt-BR" altLang="en-US"/>
              <a:t>, a resposta será:</a:t>
            </a:r>
            <a:endParaRPr lang="pt-BR" altLang="en-US"/>
          </a:p>
          <a:p>
            <a:endParaRPr lang="pt-BR" altLang="en-US"/>
          </a:p>
          <a:p>
            <a:endParaRPr lang="pt-BR" altLang="en-US"/>
          </a:p>
          <a:p>
            <a:endParaRPr lang="pt-BR" altLang="en-US"/>
          </a:p>
          <a:p>
            <a:r>
              <a:rPr lang="pt-BR" altLang="en-US"/>
              <a:t>Você pode usar vários parâmetros em uma única rota: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2115" y="2326005"/>
            <a:ext cx="3366770" cy="149733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135" y="4361180"/>
            <a:ext cx="6475730" cy="249682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6.7. Middleware e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Middlewares são funções que têm acesso ao objeto de requisição, resposta e à próxima função do ciclo de requisição-resposta. Ou seja, Middleware é o software que se encontra entre o sistema operacional e os aplicativos nele executados. Essencialmente, o middleware funciona como uma camada oculta de tradução, permitindo a comunicação e o gerenciamento de dados para aplicativos distribuídos.</a:t>
            </a:r>
            <a:endParaRPr lang="pt-BR" altLang="en-US"/>
          </a:p>
          <a:p>
            <a:pPr algn="just"/>
            <a:r>
              <a:rPr lang="pt-BR" altLang="en-US"/>
              <a:t>Os middlewares podem ser aplicados de maneira global (para todas as rotas) ou específica para uma rota. </a:t>
            </a:r>
            <a:endParaRPr lang="pt-BR" altLang="en-US"/>
          </a:p>
          <a:p>
            <a:pPr algn="just"/>
            <a:r>
              <a:rPr lang="pt-BR" altLang="en-US"/>
              <a:t>Um exemplo de middleware comum é a autenticação de usuários.</a:t>
            </a:r>
            <a:endParaRPr lang="pt-BR" altLang="en-US"/>
          </a:p>
          <a:p>
            <a:pPr algn="just"/>
            <a:r>
              <a:rPr lang="pt-BR" altLang="en-US"/>
              <a:t>https://www.redhat.com/pt-br/topics/middleware/what-is-middleware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6.8. Exemplo de Middleware em Roteamento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5365" y="1825625"/>
            <a:ext cx="72390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6.9. Roteamento Modular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Conforme o projeto cresce, pode ser complicado gerenciar todas as rotas em um único arquivo. </a:t>
            </a:r>
            <a:endParaRPr lang="pt-BR" altLang="en-US"/>
          </a:p>
          <a:p>
            <a:pPr algn="just"/>
            <a:r>
              <a:rPr lang="pt-BR" altLang="en-US"/>
              <a:t>O Express permite dividir as rotas em módulos para manter o código mais organizado.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https://expressjs.com/pt-br/guide/routing.html</a:t>
            </a:r>
            <a:endParaRPr lang="pt-BR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6.10. Exemplo de Roteamento Modular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6.10.1. um arquivo de rotas userRoutes.js para gerenciar todas as rotas relacionadas a usuários.</a:t>
            </a: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450" y="2426970"/>
            <a:ext cx="6178550" cy="443103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6.10. Exemplo de Roteamento Modular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>
                <a:sym typeface="+mn-ea"/>
              </a:rPr>
              <a:t>6.10.2. </a:t>
            </a:r>
            <a:r>
              <a:rPr lang="pt-BR" altLang="en-US"/>
              <a:t>No arquivo principal (app.js), importe o módulo de rotas e use-o na aplicação.</a:t>
            </a: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395" y="2423160"/>
            <a:ext cx="6745605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6.11. Métodos HTTP no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Aqui estão alguns exemplos de como usar diferentes métodos HTTP com o roteamento no Express.</a:t>
            </a:r>
            <a:endParaRPr lang="pt-BR" altLang="en-US"/>
          </a:p>
          <a:p>
            <a:r>
              <a:rPr lang="pt-BR" altLang="en-US" b="1"/>
              <a:t>GET</a:t>
            </a:r>
            <a:r>
              <a:rPr lang="pt-BR" altLang="en-US"/>
              <a:t>: Para buscar informações do servidor.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9715" y="3287395"/>
            <a:ext cx="6591935" cy="288988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6.11. Métodos HTTP no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POST</a:t>
            </a:r>
            <a:r>
              <a:rPr lang="pt-BR" altLang="en-US"/>
              <a:t>: Para enviar dados ao servidor, como criar um novo recurso.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310130"/>
            <a:ext cx="83820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6.11. Métodos HTTP no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PUT</a:t>
            </a:r>
            <a:r>
              <a:rPr lang="pt-BR" altLang="en-US"/>
              <a:t>: Para atualizar um recurso existente.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235" y="2742565"/>
            <a:ext cx="9066530" cy="343471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6.11. Métodos HTTP no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DELETE</a:t>
            </a:r>
            <a:r>
              <a:rPr lang="pt-BR" altLang="en-US"/>
              <a:t>: Para remover um recurso.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115" y="2745105"/>
            <a:ext cx="8827770" cy="343217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6.12. Parâmetros de Consulta (</a:t>
            </a:r>
            <a:r>
              <a:rPr lang="pt-BR" altLang="en-US" i="1"/>
              <a:t>Query Params</a:t>
            </a:r>
            <a:r>
              <a:rPr lang="pt-BR" altLang="en-US"/>
              <a:t>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Além de parâmetros de rota, o Express permite o uso de parâmetros de consulta (ou query parameters). Estes são passados na URL após o símbolo ‘</a:t>
            </a:r>
            <a:r>
              <a:rPr lang="pt-BR" altLang="en-US" i="1"/>
              <a:t>?‘ </a:t>
            </a:r>
            <a:r>
              <a:rPr lang="pt-BR" altLang="en-US"/>
              <a:t>e permitem passar dados sem alterar o caminho da rota.</a:t>
            </a:r>
            <a:endParaRPr lang="pt-BR" altLang="en-US"/>
          </a:p>
          <a:p>
            <a:pPr algn="just"/>
            <a:r>
              <a:rPr lang="pt-BR" altLang="en-US" b="1"/>
              <a:t>Exemplo</a:t>
            </a:r>
            <a:r>
              <a:rPr lang="pt-BR" altLang="en-US"/>
              <a:t>: </a:t>
            </a:r>
            <a:r>
              <a:rPr lang="pt-BR" altLang="en-US" i="1"/>
              <a:t>/search?term=nodejs&amp;limit=10</a:t>
            </a:r>
            <a:endParaRPr lang="pt-BR" altLang="en-US" i="1"/>
          </a:p>
          <a:p>
            <a:pPr algn="just"/>
            <a:endParaRPr lang="pt-BR" altLang="en-US"/>
          </a:p>
          <a:p>
            <a:pPr algn="just"/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595" y="3595370"/>
            <a:ext cx="8258175" cy="326263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6.12. Parâmetros de Consulta (</a:t>
            </a:r>
            <a:r>
              <a:rPr lang="pt-BR" altLang="en-US" i="1">
                <a:sym typeface="+mn-ea"/>
              </a:rPr>
              <a:t>Query Params</a:t>
            </a:r>
            <a:r>
              <a:rPr lang="pt-BR" altLang="en-US">
                <a:sym typeface="+mn-ea"/>
              </a:rPr>
              <a:t>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Se você acessar a URL </a:t>
            </a:r>
            <a:r>
              <a:rPr lang="pt-BR" altLang="en-US" i="1"/>
              <a:t>/search?term=nodejs&amp;limit=10</a:t>
            </a:r>
            <a:r>
              <a:rPr lang="pt-BR" altLang="en-US"/>
              <a:t>, a resposta será: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0" y="3034030"/>
            <a:ext cx="7505700" cy="3143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22416</Words>
  <Application>WPS Presentation</Application>
  <PresentationFormat>宽屏</PresentationFormat>
  <Paragraphs>477</Paragraphs>
  <Slides>87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9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Sistemas Web II</vt:lpstr>
      <vt:lpstr>Introdução ao Padrão MVC</vt:lpstr>
      <vt:lpstr>PowerPoint 演示文稿</vt:lpstr>
      <vt:lpstr>1. Funções dos Models</vt:lpstr>
      <vt:lpstr>1.2. Implementação de Models</vt:lpstr>
      <vt:lpstr>Exemplo de implementação de Models</vt:lpstr>
      <vt:lpstr>1.3. Validações no Model</vt:lpstr>
      <vt:lpstr>Exemplo de Validação no Sequelize</vt:lpstr>
      <vt:lpstr>1.4. Relacionamentos entre Models</vt:lpstr>
      <vt:lpstr>Exemplo de Relacionamento em Sequelize</vt:lpstr>
      <vt:lpstr>1.5. Operações CRUD com Models</vt:lpstr>
      <vt:lpstr>Exemplo de Operação CRUD em Javascript</vt:lpstr>
      <vt:lpstr>Exemplo de Operação CRUD em Javascript</vt:lpstr>
      <vt:lpstr>Exemplo de Operação CRUD em Javascript</vt:lpstr>
      <vt:lpstr>1.6. Explicação das Operações CRUD</vt:lpstr>
      <vt:lpstr>2. Controllers</vt:lpstr>
      <vt:lpstr>2.1. Funções dos Controllers</vt:lpstr>
      <vt:lpstr>2.1. Funções dos Controllers</vt:lpstr>
      <vt:lpstr>2.2. Exemplo de Implementação de Controllers</vt:lpstr>
      <vt:lpstr>2.2.1. Controller Simples - userController.js</vt:lpstr>
      <vt:lpstr>2.2.1. Controller Simples - userController.js</vt:lpstr>
      <vt:lpstr>2.2.1. Controller Simples - userController.js</vt:lpstr>
      <vt:lpstr>2.2.2. Integrando o Controller com o Roteamento - app.js</vt:lpstr>
      <vt:lpstr>2.2.2. Integrando o Controller com o Roteamento - app.js</vt:lpstr>
      <vt:lpstr>2.3. Detalhes e Padrões Comuns nos Controllers</vt:lpstr>
      <vt:lpstr>2.3. Detalhes e Padrões Comuns nos Controllers</vt:lpstr>
      <vt:lpstr>3. Views</vt:lpstr>
      <vt:lpstr>3.1. Funções das Views</vt:lpstr>
      <vt:lpstr>3.2. Implementação de Views</vt:lpstr>
      <vt:lpstr>3.2. Implementação de Views</vt:lpstr>
      <vt:lpstr>3.2. Implementação de Views</vt:lpstr>
      <vt:lpstr>3.2. Implementação de Views</vt:lpstr>
      <vt:lpstr>3.3. Motores de Template (Template Engines)</vt:lpstr>
      <vt:lpstr>3.3. Motores de Template (Template Engines)</vt:lpstr>
      <vt:lpstr>3.4. Passagem de Dados para Views</vt:lpstr>
      <vt:lpstr>3.5. Interatividade com Views</vt:lpstr>
      <vt:lpstr>4. Validação </vt:lpstr>
      <vt:lpstr>4.1. Tipos de Validação</vt:lpstr>
      <vt:lpstr>4.1. Tipos de Validação</vt:lpstr>
      <vt:lpstr>4.2. Exemplos de Validação Comuns</vt:lpstr>
      <vt:lpstr>4.3. Validação no Lado do Servidor com JavaScript (Node.js)</vt:lpstr>
      <vt:lpstr>4.3. Validação no Lado do Servidor com JavaScript (Node.js)</vt:lpstr>
      <vt:lpstr>userController.js:</vt:lpstr>
      <vt:lpstr>Rotas (index.js):</vt:lpstr>
      <vt:lpstr>View (register.ejs):</vt:lpstr>
      <vt:lpstr>app.js:</vt:lpstr>
      <vt:lpstr>4.4. Funcionamento</vt:lpstr>
      <vt:lpstr>4.5. Outras Validações Comuns</vt:lpstr>
      <vt:lpstr>4.5. Outras Validações Comuns</vt:lpstr>
      <vt:lpstr>5. Sessão</vt:lpstr>
      <vt:lpstr>5.1 Cenários para utilizar Sessão</vt:lpstr>
      <vt:lpstr>5.2. Funcionamento de uma Sessão</vt:lpstr>
      <vt:lpstr>5.3. Sessão vs Cookies</vt:lpstr>
      <vt:lpstr>5.4. Implementação de Sessões no Node.js com express-session</vt:lpstr>
      <vt:lpstr>5.5. Exemplo Completo de Uso de Sessões</vt:lpstr>
      <vt:lpstr>5.5.1. Configuração da Sessão (app.js)</vt:lpstr>
      <vt:lpstr>5.5.1. Configuração da Sessão (app.js) Cont...</vt:lpstr>
      <vt:lpstr>5.5.2. Rotas de Autenticação (auth.js)</vt:lpstr>
      <vt:lpstr>5.5.2. Rotas de Autenticação (auth.js) Cont...</vt:lpstr>
      <vt:lpstr>5.5.2. Rotas de Autenticação (auth.js) Cont...</vt:lpstr>
      <vt:lpstr>5.5.3. Views (Templates)</vt:lpstr>
      <vt:lpstr>5.5.4. login.ejs – Página de Login</vt:lpstr>
      <vt:lpstr>5.5.5. dashboard.ejs – Página de Dashboard (Apenas para usuários logados)</vt:lpstr>
      <vt:lpstr>5.5.6. Funcionamento do Projeto</vt:lpstr>
      <vt:lpstr>5.6. Configuração de Sessão Expirada (TTL - Time to Live)</vt:lpstr>
      <vt:lpstr>5.6.1. Armazenamento de Sessões em um Banco de Dados</vt:lpstr>
      <vt:lpstr>5.6.2. Exemplo utilizando Redis</vt:lpstr>
      <vt:lpstr>5.6.3. Considerações de Segurança</vt:lpstr>
      <vt:lpstr>6. Roteamento</vt:lpstr>
      <vt:lpstr>6.1. Conceitos Básicos do Roteamento</vt:lpstr>
      <vt:lpstr>6.2. Roteamento no Express.js</vt:lpstr>
      <vt:lpstr>6.3. Estrutura de uma Rota no Express</vt:lpstr>
      <vt:lpstr>6.4. Exemplo Simples de Roteamento</vt:lpstr>
      <vt:lpstr>6.5. Roteamento Dinâmico com Parâmetros</vt:lpstr>
      <vt:lpstr>6.6. Exemplo de Roteamento com Parâmetros</vt:lpstr>
      <vt:lpstr>6.6. Exemplo de Roteamento com Parâmetros</vt:lpstr>
      <vt:lpstr>6.7. Middleware e Roteamento</vt:lpstr>
      <vt:lpstr>6.8. Exemplo de Middleware em Roteamento</vt:lpstr>
      <vt:lpstr>6.9. Roteamento Modular</vt:lpstr>
      <vt:lpstr>6.10. Exemplo de Roteamento Modular</vt:lpstr>
      <vt:lpstr>6.10. Exemplo de Roteamento Modular</vt:lpstr>
      <vt:lpstr>6.11. Métodos HTTP no Roteamento</vt:lpstr>
      <vt:lpstr>6.11. Métodos HTTP no Roteamento</vt:lpstr>
      <vt:lpstr>6.11. Métodos HTTP no Roteamento</vt:lpstr>
      <vt:lpstr>6.11. Métodos HTTP no Roteamento</vt:lpstr>
      <vt:lpstr>6.12. Parâmetros de Consulta (Query Params)</vt:lpstr>
      <vt:lpstr>6.12. Parâmetros de Consulta (Query Params)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</dc:creator>
  <cp:lastModifiedBy>Jacques Simões</cp:lastModifiedBy>
  <cp:revision>19</cp:revision>
  <dcterms:created xsi:type="dcterms:W3CDTF">2024-08-15T17:26:00Z</dcterms:created>
  <dcterms:modified xsi:type="dcterms:W3CDTF">2026-07-07T22:24:06Z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1046-12.1.0.26880</vt:lpwstr>
  </property>
  <property fmtid="{D5CDD505-2E9C-101B-9397-08002B2CF9AE}" pid="3" name="ICV">
    <vt:lpwstr>2F46B46DC6E944E98C6C47932D2FC5F2_13</vt:lpwstr>
  </property>
</Properties>
</file>